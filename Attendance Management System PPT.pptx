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9"/>
  </p:notesMasterIdLst>
  <p:handoutMasterIdLst>
    <p:handoutMasterId r:id="rId30"/>
  </p:handoutMasterIdLst>
  <p:sldIdLst>
    <p:sldId id="269" r:id="rId5"/>
    <p:sldId id="260" r:id="rId6"/>
    <p:sldId id="291" r:id="rId7"/>
    <p:sldId id="289" r:id="rId8"/>
    <p:sldId id="270" r:id="rId9"/>
    <p:sldId id="271" r:id="rId10"/>
    <p:sldId id="295" r:id="rId11"/>
    <p:sldId id="275" r:id="rId12"/>
    <p:sldId id="294" r:id="rId13"/>
    <p:sldId id="272" r:id="rId14"/>
    <p:sldId id="296" r:id="rId15"/>
    <p:sldId id="297" r:id="rId16"/>
    <p:sldId id="298" r:id="rId17"/>
    <p:sldId id="299" r:id="rId18"/>
    <p:sldId id="300" r:id="rId19"/>
    <p:sldId id="301" r:id="rId20"/>
    <p:sldId id="290" r:id="rId21"/>
    <p:sldId id="302" r:id="rId22"/>
    <p:sldId id="303" r:id="rId23"/>
    <p:sldId id="304" r:id="rId24"/>
    <p:sldId id="305" r:id="rId25"/>
    <p:sldId id="306" r:id="rId26"/>
    <p:sldId id="307" r:id="rId27"/>
    <p:sldId id="288"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0D0D0D"/>
    <a:srgbClr val="BDE1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765" autoAdjust="0"/>
  </p:normalViewPr>
  <p:slideViewPr>
    <p:cSldViewPr snapToGrid="0">
      <p:cViewPr varScale="1">
        <p:scale>
          <a:sx n="75" d="100"/>
          <a:sy n="75" d="100"/>
        </p:scale>
        <p:origin x="974" y="67"/>
      </p:cViewPr>
      <p:guideLst>
        <p:guide orient="horz" pos="2160"/>
        <p:guide pos="3840"/>
      </p:guideLst>
    </p:cSldViewPr>
  </p:slideViewPr>
  <p:notesTextViewPr>
    <p:cViewPr>
      <p:scale>
        <a:sx n="1" d="1"/>
        <a:sy n="1" d="1"/>
      </p:scale>
      <p:origin x="0" y="0"/>
    </p:cViewPr>
  </p:notesTextViewPr>
  <p:notesViewPr>
    <p:cSldViewPr snapToGrid="0">
      <p:cViewPr varScale="1">
        <p:scale>
          <a:sx n="68" d="100"/>
          <a:sy n="68" d="100"/>
        </p:scale>
        <p:origin x="3288" y="32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03FB87-790C-4850-A90C-12C5FF4B94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8127921-F9C4-44F3-AC5F-130B6A406C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E59275-AFE1-4999-B78A-D0D76B9F2B0B}" type="datetimeFigureOut">
              <a:rPr lang="en-US" smtClean="0"/>
              <a:t>9/17/2026</a:t>
            </a:fld>
            <a:endParaRPr lang="en-US" dirty="0"/>
          </a:p>
        </p:txBody>
      </p:sp>
      <p:sp>
        <p:nvSpPr>
          <p:cNvPr id="4" name="Footer Placeholder 3">
            <a:extLst>
              <a:ext uri="{FF2B5EF4-FFF2-40B4-BE49-F238E27FC236}">
                <a16:creationId xmlns:a16="http://schemas.microsoft.com/office/drawing/2014/main" id="{4765E047-F1CB-4066-A459-9EDC95F2E6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8A77EF5-5277-4BAF-8BB4-2E02103988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668C69-0C3E-40A2-B4A0-B2C8B71D8E3A}" type="slidenum">
              <a:rPr lang="en-US" smtClean="0"/>
              <a:t>‹#›</a:t>
            </a:fld>
            <a:endParaRPr lang="en-US" dirty="0"/>
          </a:p>
        </p:txBody>
      </p:sp>
    </p:spTree>
    <p:extLst>
      <p:ext uri="{BB962C8B-B14F-4D97-AF65-F5344CB8AC3E}">
        <p14:creationId xmlns:p14="http://schemas.microsoft.com/office/powerpoint/2010/main" val="20515862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EADD7A-FE61-48EE-BE0E-8546E5401374}" type="datetimeFigureOut">
              <a:rPr lang="en-US" smtClean="0"/>
              <a:t>9/17/2026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000EEB-8338-48D7-8EE8-EE0082EF7602}" type="slidenum">
              <a:rPr lang="en-US" smtClean="0"/>
              <a:t>‹#›</a:t>
            </a:fld>
            <a:endParaRPr lang="en-US" dirty="0"/>
          </a:p>
        </p:txBody>
      </p:sp>
    </p:spTree>
    <p:extLst>
      <p:ext uri="{BB962C8B-B14F-4D97-AF65-F5344CB8AC3E}">
        <p14:creationId xmlns:p14="http://schemas.microsoft.com/office/powerpoint/2010/main" val="3767770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1</a:t>
            </a:fld>
            <a:endParaRPr lang="en-US" dirty="0"/>
          </a:p>
        </p:txBody>
      </p:sp>
    </p:spTree>
    <p:extLst>
      <p:ext uri="{BB962C8B-B14F-4D97-AF65-F5344CB8AC3E}">
        <p14:creationId xmlns:p14="http://schemas.microsoft.com/office/powerpoint/2010/main" val="3614338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2</a:t>
            </a:fld>
            <a:endParaRPr lang="en-US" dirty="0"/>
          </a:p>
        </p:txBody>
      </p:sp>
    </p:spTree>
    <p:extLst>
      <p:ext uri="{BB962C8B-B14F-4D97-AF65-F5344CB8AC3E}">
        <p14:creationId xmlns:p14="http://schemas.microsoft.com/office/powerpoint/2010/main" val="1850169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5CC00-291E-C8DF-74DF-7A36D8AA5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966DA-700E-5BC1-D8AA-6369635FF3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49E003-BB50-0AE1-3C8B-5A4609D7D5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996D7F-8E10-1423-419B-DD53BF4B18DD}"/>
              </a:ext>
            </a:extLst>
          </p:cNvPr>
          <p:cNvSpPr>
            <a:spLocks noGrp="1"/>
          </p:cNvSpPr>
          <p:nvPr>
            <p:ph type="sldNum" sz="quarter" idx="5"/>
          </p:nvPr>
        </p:nvSpPr>
        <p:spPr/>
        <p:txBody>
          <a:bodyPr/>
          <a:lstStyle/>
          <a:p>
            <a:fld id="{EE000EEB-8338-48D7-8EE8-EE0082EF7602}" type="slidenum">
              <a:rPr lang="en-US" smtClean="0"/>
              <a:t>3</a:t>
            </a:fld>
            <a:endParaRPr lang="en-US" dirty="0"/>
          </a:p>
        </p:txBody>
      </p:sp>
    </p:spTree>
    <p:extLst>
      <p:ext uri="{BB962C8B-B14F-4D97-AF65-F5344CB8AC3E}">
        <p14:creationId xmlns:p14="http://schemas.microsoft.com/office/powerpoint/2010/main" val="3878769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9607F-E0D9-4FC1-2A4D-308D6ADAB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ABEBE-2064-11D0-7D15-59CA929CDC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D0397-627B-308F-768F-32D77278CB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32324D-A357-C76D-22D3-D48EA073956B}"/>
              </a:ext>
            </a:extLst>
          </p:cNvPr>
          <p:cNvSpPr>
            <a:spLocks noGrp="1"/>
          </p:cNvSpPr>
          <p:nvPr>
            <p:ph type="sldNum" sz="quarter" idx="5"/>
          </p:nvPr>
        </p:nvSpPr>
        <p:spPr/>
        <p:txBody>
          <a:bodyPr/>
          <a:lstStyle/>
          <a:p>
            <a:fld id="{EE000EEB-8338-48D7-8EE8-EE0082EF7602}" type="slidenum">
              <a:rPr lang="en-US" smtClean="0"/>
              <a:t>4</a:t>
            </a:fld>
            <a:endParaRPr lang="en-US" dirty="0"/>
          </a:p>
        </p:txBody>
      </p:sp>
    </p:spTree>
    <p:extLst>
      <p:ext uri="{BB962C8B-B14F-4D97-AF65-F5344CB8AC3E}">
        <p14:creationId xmlns:p14="http://schemas.microsoft.com/office/powerpoint/2010/main" val="1600510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8A1BE-C735-D0BA-30E4-1FFCD97A6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534C1-8969-EEF9-10DA-13A9FD7331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F9C097-0DD1-85AF-B786-8D417E63FA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7B9F70-7924-4689-7E50-2DC91E1AE8E5}"/>
              </a:ext>
            </a:extLst>
          </p:cNvPr>
          <p:cNvSpPr>
            <a:spLocks noGrp="1"/>
          </p:cNvSpPr>
          <p:nvPr>
            <p:ph type="sldNum" sz="quarter" idx="5"/>
          </p:nvPr>
        </p:nvSpPr>
        <p:spPr/>
        <p:txBody>
          <a:bodyPr/>
          <a:lstStyle/>
          <a:p>
            <a:fld id="{EE000EEB-8338-48D7-8EE8-EE0082EF7602}" type="slidenum">
              <a:rPr lang="en-US" smtClean="0"/>
              <a:t>5</a:t>
            </a:fld>
            <a:endParaRPr lang="en-US" dirty="0"/>
          </a:p>
        </p:txBody>
      </p:sp>
    </p:spTree>
    <p:extLst>
      <p:ext uri="{BB962C8B-B14F-4D97-AF65-F5344CB8AC3E}">
        <p14:creationId xmlns:p14="http://schemas.microsoft.com/office/powerpoint/2010/main" val="4203156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6CC0E-6F09-0556-83EC-E56451B08F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40439-2B22-3F9B-35E0-CD35354372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6BD72-67AF-9701-D69E-15B9E9AB22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66D866-A0B5-C444-37CC-6441BB0B3A18}"/>
              </a:ext>
            </a:extLst>
          </p:cNvPr>
          <p:cNvSpPr>
            <a:spLocks noGrp="1"/>
          </p:cNvSpPr>
          <p:nvPr>
            <p:ph type="sldNum" sz="quarter" idx="5"/>
          </p:nvPr>
        </p:nvSpPr>
        <p:spPr/>
        <p:txBody>
          <a:bodyPr/>
          <a:lstStyle/>
          <a:p>
            <a:fld id="{EE000EEB-8338-48D7-8EE8-EE0082EF7602}" type="slidenum">
              <a:rPr lang="en-US" smtClean="0"/>
              <a:t>6</a:t>
            </a:fld>
            <a:endParaRPr lang="en-US" dirty="0"/>
          </a:p>
        </p:txBody>
      </p:sp>
    </p:spTree>
    <p:extLst>
      <p:ext uri="{BB962C8B-B14F-4D97-AF65-F5344CB8AC3E}">
        <p14:creationId xmlns:p14="http://schemas.microsoft.com/office/powerpoint/2010/main" val="618790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99D12-6F4C-CCBD-358D-81057910AB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13702-3691-8520-7E31-EF82F3D10F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B1805-8A1B-375E-FD32-9170D19E27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714C15-6E4B-BB01-D286-29DC34CCFE74}"/>
              </a:ext>
            </a:extLst>
          </p:cNvPr>
          <p:cNvSpPr>
            <a:spLocks noGrp="1"/>
          </p:cNvSpPr>
          <p:nvPr>
            <p:ph type="sldNum" sz="quarter" idx="5"/>
          </p:nvPr>
        </p:nvSpPr>
        <p:spPr/>
        <p:txBody>
          <a:bodyPr/>
          <a:lstStyle/>
          <a:p>
            <a:fld id="{EE000EEB-8338-48D7-8EE8-EE0082EF7602}" type="slidenum">
              <a:rPr lang="en-US" smtClean="0"/>
              <a:t>7</a:t>
            </a:fld>
            <a:endParaRPr lang="en-US" dirty="0"/>
          </a:p>
        </p:txBody>
      </p:sp>
    </p:spTree>
    <p:extLst>
      <p:ext uri="{BB962C8B-B14F-4D97-AF65-F5344CB8AC3E}">
        <p14:creationId xmlns:p14="http://schemas.microsoft.com/office/powerpoint/2010/main" val="1523376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A0335-D0AD-1BA0-90E1-7F27D2EF4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735505-29E6-2D94-387E-36D25C5F9A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C763D6-3DE2-A43D-7C53-8F72034413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48EDE4-9AF7-4B94-A88D-0D712A1FEE89}"/>
              </a:ext>
            </a:extLst>
          </p:cNvPr>
          <p:cNvSpPr>
            <a:spLocks noGrp="1"/>
          </p:cNvSpPr>
          <p:nvPr>
            <p:ph type="sldNum" sz="quarter" idx="5"/>
          </p:nvPr>
        </p:nvSpPr>
        <p:spPr/>
        <p:txBody>
          <a:bodyPr/>
          <a:lstStyle/>
          <a:p>
            <a:fld id="{EE000EEB-8338-48D7-8EE8-EE0082EF7602}" type="slidenum">
              <a:rPr lang="en-US" smtClean="0"/>
              <a:t>8</a:t>
            </a:fld>
            <a:endParaRPr lang="en-US" dirty="0"/>
          </a:p>
        </p:txBody>
      </p:sp>
    </p:spTree>
    <p:extLst>
      <p:ext uri="{BB962C8B-B14F-4D97-AF65-F5344CB8AC3E}">
        <p14:creationId xmlns:p14="http://schemas.microsoft.com/office/powerpoint/2010/main" val="3163932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F2208-9CE8-923E-EF65-B8A41DE04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ED441-B352-4A5E-215F-617BB84194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FD5FA-B4E1-178F-5A77-B8FC885802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DE5DC9-BC1C-B269-1163-08885DA134A3}"/>
              </a:ext>
            </a:extLst>
          </p:cNvPr>
          <p:cNvSpPr>
            <a:spLocks noGrp="1"/>
          </p:cNvSpPr>
          <p:nvPr>
            <p:ph type="sldNum" sz="quarter" idx="5"/>
          </p:nvPr>
        </p:nvSpPr>
        <p:spPr/>
        <p:txBody>
          <a:bodyPr/>
          <a:lstStyle/>
          <a:p>
            <a:fld id="{EE000EEB-8338-48D7-8EE8-EE0082EF7602}" type="slidenum">
              <a:rPr lang="en-US" smtClean="0"/>
              <a:t>9</a:t>
            </a:fld>
            <a:endParaRPr lang="en-US" dirty="0"/>
          </a:p>
        </p:txBody>
      </p:sp>
    </p:spTree>
    <p:extLst>
      <p:ext uri="{BB962C8B-B14F-4D97-AF65-F5344CB8AC3E}">
        <p14:creationId xmlns:p14="http://schemas.microsoft.com/office/powerpoint/2010/main" val="9686343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48F9A-D159-E545-8EB1-983C917C9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BA0D0-6399-D28B-51E0-7EA8DAADB9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266EA-41AE-A73C-E817-8F759048EA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B67C40-4F09-051F-4E70-38B99D1DDB0C}"/>
              </a:ext>
            </a:extLst>
          </p:cNvPr>
          <p:cNvSpPr>
            <a:spLocks noGrp="1"/>
          </p:cNvSpPr>
          <p:nvPr>
            <p:ph type="sldNum" sz="quarter" idx="5"/>
          </p:nvPr>
        </p:nvSpPr>
        <p:spPr/>
        <p:txBody>
          <a:bodyPr/>
          <a:lstStyle/>
          <a:p>
            <a:fld id="{EE000EEB-8338-48D7-8EE8-EE0082EF7602}" type="slidenum">
              <a:rPr lang="en-US" smtClean="0"/>
              <a:t>10</a:t>
            </a:fld>
            <a:endParaRPr lang="en-US" dirty="0"/>
          </a:p>
        </p:txBody>
      </p:sp>
    </p:spTree>
    <p:extLst>
      <p:ext uri="{BB962C8B-B14F-4D97-AF65-F5344CB8AC3E}">
        <p14:creationId xmlns:p14="http://schemas.microsoft.com/office/powerpoint/2010/main" val="3684308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5048E-D71F-764B-6873-DF804C3735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4D152-06A9-337C-A7D4-1925E3081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3E9F7A-CF8F-3784-01E5-D5B8B0678E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FF7E0E-7F5C-5B5F-880B-AD0EBE1FCF2E}"/>
              </a:ext>
            </a:extLst>
          </p:cNvPr>
          <p:cNvSpPr>
            <a:spLocks noGrp="1"/>
          </p:cNvSpPr>
          <p:nvPr>
            <p:ph type="sldNum" sz="quarter" idx="5"/>
          </p:nvPr>
        </p:nvSpPr>
        <p:spPr/>
        <p:txBody>
          <a:bodyPr/>
          <a:lstStyle/>
          <a:p>
            <a:fld id="{EE000EEB-8338-48D7-8EE8-EE0082EF7602}" type="slidenum">
              <a:rPr lang="en-US" smtClean="0"/>
              <a:t>11</a:t>
            </a:fld>
            <a:endParaRPr lang="en-US" dirty="0"/>
          </a:p>
        </p:txBody>
      </p:sp>
    </p:spTree>
    <p:extLst>
      <p:ext uri="{BB962C8B-B14F-4D97-AF65-F5344CB8AC3E}">
        <p14:creationId xmlns:p14="http://schemas.microsoft.com/office/powerpoint/2010/main" val="3324272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D6C09-A832-FC4A-904C-16E231398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8D9F97-E4D6-BFA5-27F0-302B040C47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CDC44F-2CF8-0877-2410-E08EFC09D4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A728D0-A23C-E363-B228-80C7806085E5}"/>
              </a:ext>
            </a:extLst>
          </p:cNvPr>
          <p:cNvSpPr>
            <a:spLocks noGrp="1"/>
          </p:cNvSpPr>
          <p:nvPr>
            <p:ph type="sldNum" sz="quarter" idx="5"/>
          </p:nvPr>
        </p:nvSpPr>
        <p:spPr/>
        <p:txBody>
          <a:bodyPr/>
          <a:lstStyle/>
          <a:p>
            <a:fld id="{EE000EEB-8338-48D7-8EE8-EE0082EF7602}" type="slidenum">
              <a:rPr lang="en-US" smtClean="0"/>
              <a:t>12</a:t>
            </a:fld>
            <a:endParaRPr lang="en-US" dirty="0"/>
          </a:p>
        </p:txBody>
      </p:sp>
    </p:spTree>
    <p:extLst>
      <p:ext uri="{BB962C8B-B14F-4D97-AF65-F5344CB8AC3E}">
        <p14:creationId xmlns:p14="http://schemas.microsoft.com/office/powerpoint/2010/main" val="1631066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BF562-EC7D-C726-A3D1-38FD56F616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C0DABC-C2FA-675F-CAFD-915435303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40AB0-F23D-253E-D08E-80C582E351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D21BED-AF57-1E6F-07DC-1B540A5CE80B}"/>
              </a:ext>
            </a:extLst>
          </p:cNvPr>
          <p:cNvSpPr>
            <a:spLocks noGrp="1"/>
          </p:cNvSpPr>
          <p:nvPr>
            <p:ph type="sldNum" sz="quarter" idx="5"/>
          </p:nvPr>
        </p:nvSpPr>
        <p:spPr/>
        <p:txBody>
          <a:bodyPr/>
          <a:lstStyle/>
          <a:p>
            <a:fld id="{EE000EEB-8338-48D7-8EE8-EE0082EF7602}" type="slidenum">
              <a:rPr lang="en-US" smtClean="0"/>
              <a:t>13</a:t>
            </a:fld>
            <a:endParaRPr lang="en-US" dirty="0"/>
          </a:p>
        </p:txBody>
      </p:sp>
    </p:spTree>
    <p:extLst>
      <p:ext uri="{BB962C8B-B14F-4D97-AF65-F5344CB8AC3E}">
        <p14:creationId xmlns:p14="http://schemas.microsoft.com/office/powerpoint/2010/main" val="436470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7F533-88B2-084D-38AB-29DDD243C3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336FC-1ADB-564A-20C5-A559412A0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EC162-E245-98B7-7B7D-EE3CBD0F29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DEA1F3-EB12-6EDC-3C8D-E177765EBAFD}"/>
              </a:ext>
            </a:extLst>
          </p:cNvPr>
          <p:cNvSpPr>
            <a:spLocks noGrp="1"/>
          </p:cNvSpPr>
          <p:nvPr>
            <p:ph type="sldNum" sz="quarter" idx="5"/>
          </p:nvPr>
        </p:nvSpPr>
        <p:spPr/>
        <p:txBody>
          <a:bodyPr/>
          <a:lstStyle/>
          <a:p>
            <a:fld id="{EE000EEB-8338-48D7-8EE8-EE0082EF7602}" type="slidenum">
              <a:rPr lang="en-US" smtClean="0"/>
              <a:t>14</a:t>
            </a:fld>
            <a:endParaRPr lang="en-US" dirty="0"/>
          </a:p>
        </p:txBody>
      </p:sp>
    </p:spTree>
    <p:extLst>
      <p:ext uri="{BB962C8B-B14F-4D97-AF65-F5344CB8AC3E}">
        <p14:creationId xmlns:p14="http://schemas.microsoft.com/office/powerpoint/2010/main" val="12167761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A2259-030F-0E13-A043-DF619D547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4F5B6-9C1C-0A01-8A67-3199F15EB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A5EF5-192A-3460-A6B3-9084401F4B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4E76E8-75A7-543C-B24E-C64DD61C81FE}"/>
              </a:ext>
            </a:extLst>
          </p:cNvPr>
          <p:cNvSpPr>
            <a:spLocks noGrp="1"/>
          </p:cNvSpPr>
          <p:nvPr>
            <p:ph type="sldNum" sz="quarter" idx="5"/>
          </p:nvPr>
        </p:nvSpPr>
        <p:spPr/>
        <p:txBody>
          <a:bodyPr/>
          <a:lstStyle/>
          <a:p>
            <a:fld id="{EE000EEB-8338-48D7-8EE8-EE0082EF7602}" type="slidenum">
              <a:rPr lang="en-US" smtClean="0"/>
              <a:t>15</a:t>
            </a:fld>
            <a:endParaRPr lang="en-US" dirty="0"/>
          </a:p>
        </p:txBody>
      </p:sp>
    </p:spTree>
    <p:extLst>
      <p:ext uri="{BB962C8B-B14F-4D97-AF65-F5344CB8AC3E}">
        <p14:creationId xmlns:p14="http://schemas.microsoft.com/office/powerpoint/2010/main" val="4104129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CA2A1-7671-F178-4D2A-7A4C346600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FCDD7-0289-AD48-4902-3196FD320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A3946-F948-A171-107E-88AD12F22F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27F91A-40BA-F40C-983F-E7A32494A79B}"/>
              </a:ext>
            </a:extLst>
          </p:cNvPr>
          <p:cNvSpPr>
            <a:spLocks noGrp="1"/>
          </p:cNvSpPr>
          <p:nvPr>
            <p:ph type="sldNum" sz="quarter" idx="5"/>
          </p:nvPr>
        </p:nvSpPr>
        <p:spPr/>
        <p:txBody>
          <a:bodyPr/>
          <a:lstStyle/>
          <a:p>
            <a:fld id="{EE000EEB-8338-48D7-8EE8-EE0082EF7602}" type="slidenum">
              <a:rPr lang="en-US" smtClean="0"/>
              <a:t>16</a:t>
            </a:fld>
            <a:endParaRPr lang="en-US" dirty="0"/>
          </a:p>
        </p:txBody>
      </p:sp>
    </p:spTree>
    <p:extLst>
      <p:ext uri="{BB962C8B-B14F-4D97-AF65-F5344CB8AC3E}">
        <p14:creationId xmlns:p14="http://schemas.microsoft.com/office/powerpoint/2010/main" val="10117072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DF247-9E35-90E6-9ED3-9CEB0A5D36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D6B58-DAB8-7D28-87E5-88041FFEE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1D83E-0F5C-DE25-F59E-8B6DA07D83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ADF800-D847-227E-224B-A28AB8B2356F}"/>
              </a:ext>
            </a:extLst>
          </p:cNvPr>
          <p:cNvSpPr>
            <a:spLocks noGrp="1"/>
          </p:cNvSpPr>
          <p:nvPr>
            <p:ph type="sldNum" sz="quarter" idx="5"/>
          </p:nvPr>
        </p:nvSpPr>
        <p:spPr/>
        <p:txBody>
          <a:bodyPr/>
          <a:lstStyle/>
          <a:p>
            <a:fld id="{EE000EEB-8338-48D7-8EE8-EE0082EF7602}" type="slidenum">
              <a:rPr lang="en-US" smtClean="0"/>
              <a:t>17</a:t>
            </a:fld>
            <a:endParaRPr lang="en-US" dirty="0"/>
          </a:p>
        </p:txBody>
      </p:sp>
    </p:spTree>
    <p:extLst>
      <p:ext uri="{BB962C8B-B14F-4D97-AF65-F5344CB8AC3E}">
        <p14:creationId xmlns:p14="http://schemas.microsoft.com/office/powerpoint/2010/main" val="41422183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A19C0-E3E0-2730-B95D-6D51812283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2EB02-C2D5-BA45-33CB-6058D0EE7F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D8B7DD-E17A-231D-55B9-2CAFE5DD1B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CE86B5-9597-5526-E8C2-336B6183AB2F}"/>
              </a:ext>
            </a:extLst>
          </p:cNvPr>
          <p:cNvSpPr>
            <a:spLocks noGrp="1"/>
          </p:cNvSpPr>
          <p:nvPr>
            <p:ph type="sldNum" sz="quarter" idx="5"/>
          </p:nvPr>
        </p:nvSpPr>
        <p:spPr/>
        <p:txBody>
          <a:bodyPr/>
          <a:lstStyle/>
          <a:p>
            <a:fld id="{EE000EEB-8338-48D7-8EE8-EE0082EF7602}" type="slidenum">
              <a:rPr lang="en-US" smtClean="0"/>
              <a:t>18</a:t>
            </a:fld>
            <a:endParaRPr lang="en-US" dirty="0"/>
          </a:p>
        </p:txBody>
      </p:sp>
    </p:spTree>
    <p:extLst>
      <p:ext uri="{BB962C8B-B14F-4D97-AF65-F5344CB8AC3E}">
        <p14:creationId xmlns:p14="http://schemas.microsoft.com/office/powerpoint/2010/main" val="656785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568DE-54D7-C4CA-FAF6-4C05044F0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D1C10-D68A-10FC-C243-62822423E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D18031-FEBD-062B-D837-E77959ED54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C51911-986B-1C80-A0C7-2AB62C4087F3}"/>
              </a:ext>
            </a:extLst>
          </p:cNvPr>
          <p:cNvSpPr>
            <a:spLocks noGrp="1"/>
          </p:cNvSpPr>
          <p:nvPr>
            <p:ph type="sldNum" sz="quarter" idx="5"/>
          </p:nvPr>
        </p:nvSpPr>
        <p:spPr/>
        <p:txBody>
          <a:bodyPr/>
          <a:lstStyle/>
          <a:p>
            <a:fld id="{EE000EEB-8338-48D7-8EE8-EE0082EF7602}" type="slidenum">
              <a:rPr lang="en-US" smtClean="0"/>
              <a:t>19</a:t>
            </a:fld>
            <a:endParaRPr lang="en-US" dirty="0"/>
          </a:p>
        </p:txBody>
      </p:sp>
    </p:spTree>
    <p:extLst>
      <p:ext uri="{BB962C8B-B14F-4D97-AF65-F5344CB8AC3E}">
        <p14:creationId xmlns:p14="http://schemas.microsoft.com/office/powerpoint/2010/main" val="41628771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F4EE3-5ACE-A86A-81D5-6A50C8938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5C608-05AC-3D16-4580-F4805392AC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CD3408-E40A-6873-9EE3-0F1972FAC0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A5213F-2B83-6168-0EC1-B7B4E89A1AF3}"/>
              </a:ext>
            </a:extLst>
          </p:cNvPr>
          <p:cNvSpPr>
            <a:spLocks noGrp="1"/>
          </p:cNvSpPr>
          <p:nvPr>
            <p:ph type="sldNum" sz="quarter" idx="5"/>
          </p:nvPr>
        </p:nvSpPr>
        <p:spPr/>
        <p:txBody>
          <a:bodyPr/>
          <a:lstStyle/>
          <a:p>
            <a:fld id="{EE000EEB-8338-48D7-8EE8-EE0082EF7602}" type="slidenum">
              <a:rPr lang="en-US" smtClean="0"/>
              <a:t>20</a:t>
            </a:fld>
            <a:endParaRPr lang="en-US" dirty="0"/>
          </a:p>
        </p:txBody>
      </p:sp>
    </p:spTree>
    <p:extLst>
      <p:ext uri="{BB962C8B-B14F-4D97-AF65-F5344CB8AC3E}">
        <p14:creationId xmlns:p14="http://schemas.microsoft.com/office/powerpoint/2010/main" val="42131334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F0EA3-45C7-DEDD-D845-5A37E89E6B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ADFA6-84BF-FE6F-A1C9-F0CDA29D4C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6C84AB-4D97-38C8-8EA9-CDE08A468E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A0CAF5-43AB-DC3C-7A41-DC8E451CBEFD}"/>
              </a:ext>
            </a:extLst>
          </p:cNvPr>
          <p:cNvSpPr>
            <a:spLocks noGrp="1"/>
          </p:cNvSpPr>
          <p:nvPr>
            <p:ph type="sldNum" sz="quarter" idx="5"/>
          </p:nvPr>
        </p:nvSpPr>
        <p:spPr/>
        <p:txBody>
          <a:bodyPr/>
          <a:lstStyle/>
          <a:p>
            <a:fld id="{EE000EEB-8338-48D7-8EE8-EE0082EF7602}" type="slidenum">
              <a:rPr lang="en-US" smtClean="0"/>
              <a:t>21</a:t>
            </a:fld>
            <a:endParaRPr lang="en-US" dirty="0"/>
          </a:p>
        </p:txBody>
      </p:sp>
    </p:spTree>
    <p:extLst>
      <p:ext uri="{BB962C8B-B14F-4D97-AF65-F5344CB8AC3E}">
        <p14:creationId xmlns:p14="http://schemas.microsoft.com/office/powerpoint/2010/main" val="40805523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BAE8D-F474-44BD-5A3A-710041DA8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576EE-E6A3-958D-8EF5-83E4D6BE54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2D2229-6293-A817-4500-0EC39B218B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D287EC-2D8F-D42D-7CCE-91EA0CE2FC59}"/>
              </a:ext>
            </a:extLst>
          </p:cNvPr>
          <p:cNvSpPr>
            <a:spLocks noGrp="1"/>
          </p:cNvSpPr>
          <p:nvPr>
            <p:ph type="sldNum" sz="quarter" idx="5"/>
          </p:nvPr>
        </p:nvSpPr>
        <p:spPr/>
        <p:txBody>
          <a:bodyPr/>
          <a:lstStyle/>
          <a:p>
            <a:fld id="{EE000EEB-8338-48D7-8EE8-EE0082EF7602}" type="slidenum">
              <a:rPr lang="en-US" smtClean="0"/>
              <a:t>22</a:t>
            </a:fld>
            <a:endParaRPr lang="en-US" dirty="0"/>
          </a:p>
        </p:txBody>
      </p:sp>
    </p:spTree>
    <p:extLst>
      <p:ext uri="{BB962C8B-B14F-4D97-AF65-F5344CB8AC3E}">
        <p14:creationId xmlns:p14="http://schemas.microsoft.com/office/powerpoint/2010/main" val="9724207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99114-D608-BB73-05B6-DA0A60A16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2ECF7-9971-796D-0DAA-B2F2018465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97A3F5-EE18-77A2-035E-07822F845D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644762-13E9-5142-F705-52A85968761F}"/>
              </a:ext>
            </a:extLst>
          </p:cNvPr>
          <p:cNvSpPr>
            <a:spLocks noGrp="1"/>
          </p:cNvSpPr>
          <p:nvPr>
            <p:ph type="sldNum" sz="quarter" idx="5"/>
          </p:nvPr>
        </p:nvSpPr>
        <p:spPr/>
        <p:txBody>
          <a:bodyPr/>
          <a:lstStyle/>
          <a:p>
            <a:fld id="{EE000EEB-8338-48D7-8EE8-EE0082EF7602}" type="slidenum">
              <a:rPr lang="en-US" smtClean="0"/>
              <a:t>23</a:t>
            </a:fld>
            <a:endParaRPr lang="en-US" dirty="0"/>
          </a:p>
        </p:txBody>
      </p:sp>
    </p:spTree>
    <p:extLst>
      <p:ext uri="{BB962C8B-B14F-4D97-AF65-F5344CB8AC3E}">
        <p14:creationId xmlns:p14="http://schemas.microsoft.com/office/powerpoint/2010/main" val="29539083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7DE79-EF15-63AC-4A8B-72AE1761B0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58E72D-9652-13CD-F87D-6AC41C2426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B268FE-5CC6-4A03-A6E5-FCD597AF20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874992-FCCA-71D5-9E68-CB5508D565AF}"/>
              </a:ext>
            </a:extLst>
          </p:cNvPr>
          <p:cNvSpPr>
            <a:spLocks noGrp="1"/>
          </p:cNvSpPr>
          <p:nvPr>
            <p:ph type="sldNum" sz="quarter" idx="5"/>
          </p:nvPr>
        </p:nvSpPr>
        <p:spPr/>
        <p:txBody>
          <a:bodyPr/>
          <a:lstStyle/>
          <a:p>
            <a:fld id="{EE000EEB-8338-48D7-8EE8-EE0082EF7602}" type="slidenum">
              <a:rPr lang="en-US" smtClean="0"/>
              <a:t>24</a:t>
            </a:fld>
            <a:endParaRPr lang="en-US" dirty="0"/>
          </a:p>
        </p:txBody>
      </p:sp>
    </p:spTree>
    <p:extLst>
      <p:ext uri="{BB962C8B-B14F-4D97-AF65-F5344CB8AC3E}">
        <p14:creationId xmlns:p14="http://schemas.microsoft.com/office/powerpoint/2010/main" val="1512354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9/17/2026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9/17/2026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9/17/2026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9/17/2026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9/17/2026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9/17/2026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9/17/2026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9.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174D3-6B10-409E-9110-EEBEAA7E38C0}"/>
              </a:ext>
            </a:extLst>
          </p:cNvPr>
          <p:cNvSpPr>
            <a:spLocks noGrp="1"/>
          </p:cNvSpPr>
          <p:nvPr>
            <p:ph type="title"/>
          </p:nvPr>
        </p:nvSpPr>
        <p:spPr>
          <a:xfrm>
            <a:off x="1061876" y="3601719"/>
            <a:ext cx="4492206" cy="462280"/>
          </a:xfrm>
        </p:spPr>
        <p:txBody>
          <a:bodyPr>
            <a:noAutofit/>
          </a:bodyPr>
          <a:lstStyle/>
          <a:p>
            <a:r>
              <a:rPr lang="en-IN" sz="2400" dirty="0">
                <a:latin typeface="Times New Roman" panose="02020603050405020304" pitchFamily="18" charset="0"/>
                <a:cs typeface="Times New Roman" panose="02020603050405020304" pitchFamily="18" charset="0"/>
              </a:rPr>
              <a:t>SQL DATABASE ANALYSIS</a:t>
            </a:r>
            <a:endParaRPr lang="en-US" sz="2400" dirty="0">
              <a:latin typeface="Times New Roman" panose="02020603050405020304" pitchFamily="18" charset="0"/>
              <a:cs typeface="Times New Roman" panose="02020603050405020304" pitchFamily="18" charset="0"/>
            </a:endParaRPr>
          </a:p>
        </p:txBody>
      </p:sp>
      <p:sp>
        <p:nvSpPr>
          <p:cNvPr id="78" name="Rectangle 77">
            <a:extLst>
              <a:ext uri="{FF2B5EF4-FFF2-40B4-BE49-F238E27FC236}">
                <a16:creationId xmlns:a16="http://schemas.microsoft.com/office/drawing/2014/main" id="{7527E565-DE8D-445C-9879-AD1D04415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1A61DF91-1397-A4D5-52DF-216D1F682EF0}"/>
              </a:ext>
            </a:extLst>
          </p:cNvPr>
          <p:cNvPicPr>
            <a:picLocks noChangeAspect="1"/>
          </p:cNvPicPr>
          <p:nvPr/>
        </p:nvPicPr>
        <p:blipFill>
          <a:blip r:embed="rId4">
            <a:alphaModFix amt="9000"/>
          </a:blip>
          <a:stretch>
            <a:fillRect/>
          </a:stretch>
        </p:blipFill>
        <p:spPr>
          <a:xfrm>
            <a:off x="4785360" y="1"/>
            <a:ext cx="7406640" cy="6858000"/>
          </a:xfrm>
          <a:prstGeom prst="rect">
            <a:avLst/>
          </a:prstGeom>
          <a:effectLst>
            <a:softEdge rad="635000"/>
          </a:effectLst>
        </p:spPr>
      </p:pic>
      <p:sp>
        <p:nvSpPr>
          <p:cNvPr id="8" name="Title 1">
            <a:extLst>
              <a:ext uri="{FF2B5EF4-FFF2-40B4-BE49-F238E27FC236}">
                <a16:creationId xmlns:a16="http://schemas.microsoft.com/office/drawing/2014/main" id="{862AB674-F507-8840-3DAB-34D1DD9D14A4}"/>
              </a:ext>
            </a:extLst>
          </p:cNvPr>
          <p:cNvSpPr txBox="1">
            <a:spLocks/>
          </p:cNvSpPr>
          <p:nvPr/>
        </p:nvSpPr>
        <p:spPr>
          <a:xfrm>
            <a:off x="951757" y="1393709"/>
            <a:ext cx="6600406" cy="1508758"/>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4400" b="1" dirty="0">
                <a:latin typeface="Times New Roman" panose="02020603050405020304" pitchFamily="18" charset="0"/>
                <a:cs typeface="Times New Roman" panose="02020603050405020304" pitchFamily="18" charset="0"/>
              </a:rPr>
              <a:t>ATTENDANCE</a:t>
            </a:r>
          </a:p>
          <a:p>
            <a:r>
              <a:rPr lang="en-IN" sz="4400" b="1" dirty="0">
                <a:latin typeface="Times New Roman" panose="02020603050405020304" pitchFamily="18" charset="0"/>
                <a:cs typeface="Times New Roman" panose="02020603050405020304" pitchFamily="18" charset="0"/>
              </a:rPr>
              <a:t>MANAGEMENT</a:t>
            </a:r>
            <a:r>
              <a:rPr lang="en-US" sz="4400" b="1" dirty="0">
                <a:latin typeface="Times New Roman" panose="02020603050405020304" pitchFamily="18" charset="0"/>
                <a:cs typeface="Times New Roman" panose="02020603050405020304" pitchFamily="18" charset="0"/>
              </a:rPr>
              <a:t> SYSTEM</a:t>
            </a:r>
            <a:endParaRPr lang="ru-RU" sz="4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D6ABDA6-A825-F592-CCAB-340983A754B0}"/>
              </a:ext>
            </a:extLst>
          </p:cNvPr>
          <p:cNvSpPr txBox="1"/>
          <p:nvPr/>
        </p:nvSpPr>
        <p:spPr>
          <a:xfrm>
            <a:off x="1173636" y="5464291"/>
            <a:ext cx="3389846" cy="338554"/>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PRESENTED BY: RAJ BARI</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3881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C570-72AC-45BE-BB60-458EBBAC8C19}"/>
              </a:ext>
            </a:extLst>
          </p:cNvPr>
          <p:cNvSpPr>
            <a:spLocks noGrp="1"/>
          </p:cNvSpPr>
          <p:nvPr>
            <p:ph type="title"/>
          </p:nvPr>
        </p:nvSpPr>
        <p:spPr>
          <a:xfrm>
            <a:off x="451505" y="667531"/>
            <a:ext cx="5175551" cy="744709"/>
          </a:xfrm>
        </p:spPr>
        <p:txBody>
          <a:bodyPr/>
          <a:lstStyle/>
          <a:p>
            <a:r>
              <a:rPr lang="en-IN" sz="3200" b="1" u="sng" dirty="0"/>
              <a:t>INTRODUCTION</a:t>
            </a:r>
            <a:endParaRPr lang="ru-RU" sz="3200" b="1" u="sng" dirty="0"/>
          </a:p>
        </p:txBody>
      </p:sp>
      <p:sp>
        <p:nvSpPr>
          <p:cNvPr id="13" name="TextBox 12">
            <a:extLst>
              <a:ext uri="{FF2B5EF4-FFF2-40B4-BE49-F238E27FC236}">
                <a16:creationId xmlns:a16="http://schemas.microsoft.com/office/drawing/2014/main" id="{BB43264D-1E9B-2FF0-50A4-AC5AA71071AA}"/>
              </a:ext>
            </a:extLst>
          </p:cNvPr>
          <p:cNvSpPr txBox="1"/>
          <p:nvPr/>
        </p:nvSpPr>
        <p:spPr>
          <a:xfrm>
            <a:off x="538480" y="1412240"/>
            <a:ext cx="9865360" cy="2246769"/>
          </a:xfrm>
          <a:prstGeom prst="rect">
            <a:avLst/>
          </a:prstGeom>
          <a:noFill/>
        </p:spPr>
        <p:txBody>
          <a:bodyPr wrap="square" rtlCol="0">
            <a:spAutoFit/>
          </a:bodyPr>
          <a:lstStyle/>
          <a:p>
            <a:r>
              <a:rPr lang="en-IN" sz="2000" dirty="0"/>
              <a:t>The Attendance Management System is an SQL-based database designed to efficiently manage employee attendance and related information. It stores details of employees, departments, attendance records, holidays, leave requests, and work schedules. The system uses SQL queries to track attendance, analyse working hours, manage leaves, and generate useful information for better attendance management.</a:t>
            </a:r>
          </a:p>
          <a:p>
            <a:pPr>
              <a:lnSpc>
                <a:spcPct val="100000"/>
              </a:lnSpc>
            </a:pPr>
            <a:endParaRPr lang="en-US" sz="2000" dirty="0"/>
          </a:p>
        </p:txBody>
      </p:sp>
    </p:spTree>
    <p:extLst>
      <p:ext uri="{BB962C8B-B14F-4D97-AF65-F5344CB8AC3E}">
        <p14:creationId xmlns:p14="http://schemas.microsoft.com/office/powerpoint/2010/main" val="70285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E409C-4F74-B271-18FB-60C08FB45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3C191-B5D9-E3B4-480E-B435F89EF47D}"/>
              </a:ext>
            </a:extLst>
          </p:cNvPr>
          <p:cNvSpPr>
            <a:spLocks noGrp="1"/>
          </p:cNvSpPr>
          <p:nvPr>
            <p:ph type="title"/>
          </p:nvPr>
        </p:nvSpPr>
        <p:spPr>
          <a:xfrm>
            <a:off x="451505" y="667531"/>
            <a:ext cx="5175551" cy="744709"/>
          </a:xfrm>
        </p:spPr>
        <p:txBody>
          <a:bodyPr/>
          <a:lstStyle/>
          <a:p>
            <a:r>
              <a:rPr lang="en-IN" sz="3200" b="1" u="sng" dirty="0"/>
              <a:t>P</a:t>
            </a:r>
            <a:r>
              <a:rPr lang="en-US" sz="3200" b="1" u="sng" dirty="0"/>
              <a:t>ROBLEM STATEMENT</a:t>
            </a:r>
            <a:endParaRPr lang="ru-RU" sz="3200" b="1" u="sng" dirty="0"/>
          </a:p>
        </p:txBody>
      </p:sp>
      <p:sp>
        <p:nvSpPr>
          <p:cNvPr id="13" name="TextBox 12">
            <a:extLst>
              <a:ext uri="{FF2B5EF4-FFF2-40B4-BE49-F238E27FC236}">
                <a16:creationId xmlns:a16="http://schemas.microsoft.com/office/drawing/2014/main" id="{ECE1BF15-60B8-D529-FE83-5574F5F05039}"/>
              </a:ext>
            </a:extLst>
          </p:cNvPr>
          <p:cNvSpPr txBox="1"/>
          <p:nvPr/>
        </p:nvSpPr>
        <p:spPr>
          <a:xfrm>
            <a:off x="538480" y="1412240"/>
            <a:ext cx="9865360" cy="1015663"/>
          </a:xfrm>
          <a:prstGeom prst="rect">
            <a:avLst/>
          </a:prstGeom>
          <a:noFill/>
        </p:spPr>
        <p:txBody>
          <a:bodyPr wrap="square" rtlCol="0">
            <a:spAutoFit/>
          </a:bodyPr>
          <a:lstStyle/>
          <a:p>
            <a:pPr>
              <a:lnSpc>
                <a:spcPct val="100000"/>
              </a:lnSpc>
            </a:pPr>
            <a:r>
              <a:rPr lang="en-IN" sz="2000" dirty="0"/>
              <a:t>To manage and analyse employee attendance data by tracking employees, departments, attendance, holidays, leave requests, and work schedules using SQL.</a:t>
            </a:r>
            <a:endParaRPr lang="en-US" sz="2000" dirty="0"/>
          </a:p>
        </p:txBody>
      </p:sp>
    </p:spTree>
    <p:extLst>
      <p:ext uri="{BB962C8B-B14F-4D97-AF65-F5344CB8AC3E}">
        <p14:creationId xmlns:p14="http://schemas.microsoft.com/office/powerpoint/2010/main" val="2855374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4BDF2-1ABE-9B4F-2924-4E37F3FE4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C0BBA0-023C-9297-8678-2C1EFAAADAAD}"/>
              </a:ext>
            </a:extLst>
          </p:cNvPr>
          <p:cNvSpPr>
            <a:spLocks noGrp="1"/>
          </p:cNvSpPr>
          <p:nvPr>
            <p:ph type="title"/>
          </p:nvPr>
        </p:nvSpPr>
        <p:spPr>
          <a:xfrm>
            <a:off x="451505" y="667531"/>
            <a:ext cx="5175551" cy="744709"/>
          </a:xfrm>
        </p:spPr>
        <p:txBody>
          <a:bodyPr/>
          <a:lstStyle/>
          <a:p>
            <a:r>
              <a:rPr lang="en-IN" sz="3200" b="1" u="sng" dirty="0"/>
              <a:t>P</a:t>
            </a:r>
            <a:r>
              <a:rPr lang="en-US" sz="3200" b="1" u="sng" dirty="0"/>
              <a:t>ROJECT OBJECTIVES</a:t>
            </a:r>
            <a:endParaRPr lang="ru-RU" sz="3200" b="1" u="sng" dirty="0"/>
          </a:p>
        </p:txBody>
      </p:sp>
      <p:sp>
        <p:nvSpPr>
          <p:cNvPr id="5" name="Rectangle 4">
            <a:extLst>
              <a:ext uri="{FF2B5EF4-FFF2-40B4-BE49-F238E27FC236}">
                <a16:creationId xmlns:a16="http://schemas.microsoft.com/office/drawing/2014/main" id="{22ABAC0C-AD39-3C89-3203-3BEC492855FD}"/>
              </a:ext>
            </a:extLst>
          </p:cNvPr>
          <p:cNvSpPr/>
          <p:nvPr/>
        </p:nvSpPr>
        <p:spPr>
          <a:xfrm>
            <a:off x="532785" y="1780692"/>
            <a:ext cx="3456633" cy="4541855"/>
          </a:xfrm>
          <a:prstGeom prst="rect">
            <a:avLst/>
          </a:prstGeom>
          <a:solidFill>
            <a:srgbClr val="262626">
              <a:alpha val="5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D943448-C686-7D3D-1BEA-3F4EED90E017}"/>
              </a:ext>
            </a:extLst>
          </p:cNvPr>
          <p:cNvSpPr/>
          <p:nvPr/>
        </p:nvSpPr>
        <p:spPr>
          <a:xfrm>
            <a:off x="8202582" y="1780693"/>
            <a:ext cx="3456633" cy="4541855"/>
          </a:xfrm>
          <a:prstGeom prst="rect">
            <a:avLst/>
          </a:prstGeom>
          <a:solidFill>
            <a:srgbClr val="262626">
              <a:alpha val="5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D289D16-6417-FE5A-2541-CFCBDD4BAB26}"/>
              </a:ext>
            </a:extLst>
          </p:cNvPr>
          <p:cNvSpPr/>
          <p:nvPr/>
        </p:nvSpPr>
        <p:spPr>
          <a:xfrm>
            <a:off x="4367683" y="1780693"/>
            <a:ext cx="3456633" cy="4541855"/>
          </a:xfrm>
          <a:prstGeom prst="rect">
            <a:avLst/>
          </a:prstGeom>
          <a:solidFill>
            <a:srgbClr val="262626">
              <a:alpha val="5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oogle Shape;105;p14">
            <a:extLst>
              <a:ext uri="{FF2B5EF4-FFF2-40B4-BE49-F238E27FC236}">
                <a16:creationId xmlns:a16="http://schemas.microsoft.com/office/drawing/2014/main" id="{8756D653-1437-84F4-7C35-14AFC729CEB0}"/>
              </a:ext>
            </a:extLst>
          </p:cNvPr>
          <p:cNvPicPr preferRelativeResize="0"/>
          <p:nvPr/>
        </p:nvPicPr>
        <p:blipFill rotWithShape="1">
          <a:blip r:embed="rId3">
            <a:alphaModFix/>
            <a:biLevel thresh="25000"/>
          </a:blip>
          <a:srcRect/>
          <a:stretch/>
        </p:blipFill>
        <p:spPr>
          <a:xfrm>
            <a:off x="913290" y="2235374"/>
            <a:ext cx="587480" cy="605985"/>
          </a:xfrm>
          <a:prstGeom prst="rect">
            <a:avLst/>
          </a:prstGeom>
          <a:noFill/>
          <a:ln>
            <a:noFill/>
          </a:ln>
        </p:spPr>
      </p:pic>
      <p:sp>
        <p:nvSpPr>
          <p:cNvPr id="13" name="TextBox 12">
            <a:extLst>
              <a:ext uri="{FF2B5EF4-FFF2-40B4-BE49-F238E27FC236}">
                <a16:creationId xmlns:a16="http://schemas.microsoft.com/office/drawing/2014/main" id="{6EF92023-2298-C7C3-F963-407773CCF344}"/>
              </a:ext>
            </a:extLst>
          </p:cNvPr>
          <p:cNvSpPr txBox="1"/>
          <p:nvPr/>
        </p:nvSpPr>
        <p:spPr>
          <a:xfrm>
            <a:off x="777186" y="3328577"/>
            <a:ext cx="2967830" cy="2308324"/>
          </a:xfrm>
          <a:prstGeom prst="rect">
            <a:avLst/>
          </a:prstGeom>
          <a:noFill/>
        </p:spPr>
        <p:txBody>
          <a:bodyPr wrap="square" rtlCol="0">
            <a:spAutoFit/>
          </a:bodyPr>
          <a:lstStyle/>
          <a:p>
            <a:pPr>
              <a:lnSpc>
                <a:spcPct val="100000"/>
              </a:lnSpc>
            </a:pPr>
            <a:r>
              <a:rPr lang="en-IN" dirty="0"/>
              <a:t>To analyse employee attendance data related to employees, departments, attendance records, holidays, leave requests, and work schedules using SQL.</a:t>
            </a:r>
            <a:endParaRPr lang="en-US" dirty="0"/>
          </a:p>
        </p:txBody>
      </p:sp>
      <p:pic>
        <p:nvPicPr>
          <p:cNvPr id="14" name="Google Shape;106;p14">
            <a:extLst>
              <a:ext uri="{FF2B5EF4-FFF2-40B4-BE49-F238E27FC236}">
                <a16:creationId xmlns:a16="http://schemas.microsoft.com/office/drawing/2014/main" id="{878FF28F-3A70-1279-026F-4FED848ADEA2}"/>
              </a:ext>
            </a:extLst>
          </p:cNvPr>
          <p:cNvPicPr preferRelativeResize="0"/>
          <p:nvPr/>
        </p:nvPicPr>
        <p:blipFill rotWithShape="1">
          <a:blip r:embed="rId4">
            <a:alphaModFix/>
            <a:biLevel thresh="25000"/>
          </a:blip>
          <a:srcRect/>
          <a:stretch/>
        </p:blipFill>
        <p:spPr>
          <a:xfrm>
            <a:off x="4702723" y="2235374"/>
            <a:ext cx="848678" cy="605985"/>
          </a:xfrm>
          <a:prstGeom prst="rect">
            <a:avLst/>
          </a:prstGeom>
          <a:noFill/>
          <a:ln>
            <a:noFill/>
          </a:ln>
        </p:spPr>
      </p:pic>
      <p:sp>
        <p:nvSpPr>
          <p:cNvPr id="17" name="TextBox 16">
            <a:extLst>
              <a:ext uri="{FF2B5EF4-FFF2-40B4-BE49-F238E27FC236}">
                <a16:creationId xmlns:a16="http://schemas.microsoft.com/office/drawing/2014/main" id="{50EC93F8-C2B1-BD5D-497A-0C8DE9CFE5BB}"/>
              </a:ext>
            </a:extLst>
          </p:cNvPr>
          <p:cNvSpPr txBox="1"/>
          <p:nvPr/>
        </p:nvSpPr>
        <p:spPr>
          <a:xfrm>
            <a:off x="4592042" y="3226977"/>
            <a:ext cx="3007916" cy="2585323"/>
          </a:xfrm>
          <a:prstGeom prst="rect">
            <a:avLst/>
          </a:prstGeom>
          <a:noFill/>
        </p:spPr>
        <p:txBody>
          <a:bodyPr wrap="square" rtlCol="0">
            <a:spAutoFit/>
          </a:bodyPr>
          <a:lstStyle/>
          <a:p>
            <a:pPr>
              <a:lnSpc>
                <a:spcPct val="100000"/>
              </a:lnSpc>
            </a:pPr>
            <a:r>
              <a:rPr lang="en-IN" dirty="0"/>
              <a:t>To apply SQL concepts such as JOINS, Aggregate Functions, GROUP BY, HAVING, CASE Statements, Subqueries, and LIMIT to retrieve meaningful information from the attendance database.</a:t>
            </a:r>
            <a:endParaRPr lang="en-US" dirty="0"/>
          </a:p>
        </p:txBody>
      </p:sp>
      <p:sp>
        <p:nvSpPr>
          <p:cNvPr id="19" name="TextBox 18">
            <a:extLst>
              <a:ext uri="{FF2B5EF4-FFF2-40B4-BE49-F238E27FC236}">
                <a16:creationId xmlns:a16="http://schemas.microsoft.com/office/drawing/2014/main" id="{2E2360B7-56E9-B65B-8D4F-4B014EE01C21}"/>
              </a:ext>
            </a:extLst>
          </p:cNvPr>
          <p:cNvSpPr txBox="1"/>
          <p:nvPr/>
        </p:nvSpPr>
        <p:spPr>
          <a:xfrm>
            <a:off x="8446983" y="3226977"/>
            <a:ext cx="2967830" cy="2862322"/>
          </a:xfrm>
          <a:prstGeom prst="rect">
            <a:avLst/>
          </a:prstGeom>
          <a:noFill/>
        </p:spPr>
        <p:txBody>
          <a:bodyPr wrap="square" rtlCol="0">
            <a:spAutoFit/>
          </a:bodyPr>
          <a:lstStyle/>
          <a:p>
            <a:pPr>
              <a:lnSpc>
                <a:spcPct val="100000"/>
              </a:lnSpc>
            </a:pPr>
            <a:r>
              <a:rPr lang="en-IN" dirty="0"/>
              <a:t>To generate meaningful insights from the attendance database, such as late and absent employees, approved leave requests, attendance duration, average working hours, and employees working on holidays.</a:t>
            </a:r>
            <a:endParaRPr lang="en-US" dirty="0"/>
          </a:p>
        </p:txBody>
      </p:sp>
      <p:pic>
        <p:nvPicPr>
          <p:cNvPr id="20" name="Picture 19">
            <a:extLst>
              <a:ext uri="{FF2B5EF4-FFF2-40B4-BE49-F238E27FC236}">
                <a16:creationId xmlns:a16="http://schemas.microsoft.com/office/drawing/2014/main" id="{9C6B7E03-69E4-EFB1-F22A-6553351127A4}"/>
              </a:ext>
            </a:extLst>
          </p:cNvPr>
          <p:cNvPicPr>
            <a:picLocks noChangeAspect="1"/>
          </p:cNvPicPr>
          <p:nvPr/>
        </p:nvPicPr>
        <p:blipFill>
          <a:blip r:embed="rId5">
            <a:biLevel thresh="50000"/>
            <a:extLst>
              <a:ext uri="{28A0092B-C50C-407E-A947-70E740481C1C}">
                <a14:useLocalDpi xmlns:a14="http://schemas.microsoft.com/office/drawing/2010/main" val="0"/>
              </a:ext>
            </a:extLst>
          </a:blip>
          <a:stretch>
            <a:fillRect/>
          </a:stretch>
        </p:blipFill>
        <p:spPr>
          <a:xfrm>
            <a:off x="8528263" y="2193188"/>
            <a:ext cx="621294" cy="621294"/>
          </a:xfrm>
          <a:prstGeom prst="rect">
            <a:avLst/>
          </a:prstGeom>
        </p:spPr>
      </p:pic>
    </p:spTree>
    <p:extLst>
      <p:ext uri="{BB962C8B-B14F-4D97-AF65-F5344CB8AC3E}">
        <p14:creationId xmlns:p14="http://schemas.microsoft.com/office/powerpoint/2010/main" val="3851132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2C6C8-1E32-EF76-11E4-DFF109FC47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BA398-678E-6921-D9EB-D1B012545845}"/>
              </a:ext>
            </a:extLst>
          </p:cNvPr>
          <p:cNvSpPr>
            <a:spLocks noGrp="1"/>
          </p:cNvSpPr>
          <p:nvPr>
            <p:ph type="title"/>
          </p:nvPr>
        </p:nvSpPr>
        <p:spPr>
          <a:xfrm>
            <a:off x="680720" y="433851"/>
            <a:ext cx="2716832" cy="643109"/>
          </a:xfrm>
        </p:spPr>
        <p:txBody>
          <a:bodyPr/>
          <a:lstStyle/>
          <a:p>
            <a:r>
              <a:rPr lang="en-IN" sz="3200" b="1" u="sng" dirty="0"/>
              <a:t>EER Diagram</a:t>
            </a:r>
            <a:endParaRPr lang="ru-RU" sz="3200" b="1" u="sng" dirty="0"/>
          </a:p>
        </p:txBody>
      </p:sp>
      <p:sp>
        <p:nvSpPr>
          <p:cNvPr id="3" name="TextBox 2">
            <a:extLst>
              <a:ext uri="{FF2B5EF4-FFF2-40B4-BE49-F238E27FC236}">
                <a16:creationId xmlns:a16="http://schemas.microsoft.com/office/drawing/2014/main" id="{DC58EF33-782C-D2CC-0C91-172B808948F0}"/>
              </a:ext>
            </a:extLst>
          </p:cNvPr>
          <p:cNvSpPr txBox="1"/>
          <p:nvPr/>
        </p:nvSpPr>
        <p:spPr>
          <a:xfrm>
            <a:off x="680720" y="1076960"/>
            <a:ext cx="9686592" cy="830997"/>
          </a:xfrm>
          <a:prstGeom prst="rect">
            <a:avLst/>
          </a:prstGeom>
          <a:noFill/>
        </p:spPr>
        <p:txBody>
          <a:bodyPr wrap="square" rtlCol="0">
            <a:spAutoFit/>
          </a:bodyPr>
          <a:lstStyle/>
          <a:p>
            <a:r>
              <a:rPr lang="en-IN" sz="1600" dirty="0"/>
              <a:t>The EER diagram illustrates the logical structure of the Attendance Management System database. It represents six main entities: Employees, Departments, Attendance, Holidays, Leave Requests , Work Schedules, and their relationships using primary keys and foreign keys.</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B1A5ACCF-EED7-8536-3CBB-1877FBBDDD39}"/>
              </a:ext>
            </a:extLst>
          </p:cNvPr>
          <p:cNvPicPr>
            <a:picLocks noChangeAspect="1"/>
          </p:cNvPicPr>
          <p:nvPr/>
        </p:nvPicPr>
        <p:blipFill>
          <a:blip r:embed="rId3"/>
          <a:stretch>
            <a:fillRect/>
          </a:stretch>
        </p:blipFill>
        <p:spPr>
          <a:xfrm>
            <a:off x="792480" y="1907957"/>
            <a:ext cx="9686591" cy="4878924"/>
          </a:xfrm>
          <a:prstGeom prst="rect">
            <a:avLst/>
          </a:prstGeom>
        </p:spPr>
      </p:pic>
    </p:spTree>
    <p:extLst>
      <p:ext uri="{BB962C8B-B14F-4D97-AF65-F5344CB8AC3E}">
        <p14:creationId xmlns:p14="http://schemas.microsoft.com/office/powerpoint/2010/main" val="2781676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EAF7E-B264-A89B-E574-3A6B6048A1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41A64-EF45-2D8F-9ABB-B3532CD1F367}"/>
              </a:ext>
            </a:extLst>
          </p:cNvPr>
          <p:cNvSpPr>
            <a:spLocks noGrp="1"/>
          </p:cNvSpPr>
          <p:nvPr>
            <p:ph type="title"/>
          </p:nvPr>
        </p:nvSpPr>
        <p:spPr>
          <a:xfrm>
            <a:off x="680720" y="433851"/>
            <a:ext cx="3942080" cy="643109"/>
          </a:xfrm>
        </p:spPr>
        <p:txBody>
          <a:bodyPr/>
          <a:lstStyle/>
          <a:p>
            <a:r>
              <a:rPr lang="en-IN" sz="3200" b="1" u="sng" dirty="0"/>
              <a:t>1.Create Tables</a:t>
            </a:r>
            <a:endParaRPr lang="ru-RU" sz="3200" b="1" u="sng" dirty="0"/>
          </a:p>
        </p:txBody>
      </p:sp>
      <p:pic>
        <p:nvPicPr>
          <p:cNvPr id="13" name="Picture 12">
            <a:extLst>
              <a:ext uri="{FF2B5EF4-FFF2-40B4-BE49-F238E27FC236}">
                <a16:creationId xmlns:a16="http://schemas.microsoft.com/office/drawing/2014/main" id="{14568350-2E18-E7F0-39D0-5BDC2569CF4D}"/>
              </a:ext>
            </a:extLst>
          </p:cNvPr>
          <p:cNvPicPr>
            <a:picLocks noChangeAspect="1"/>
          </p:cNvPicPr>
          <p:nvPr/>
        </p:nvPicPr>
        <p:blipFill>
          <a:blip r:embed="rId3"/>
          <a:stretch>
            <a:fillRect/>
          </a:stretch>
        </p:blipFill>
        <p:spPr>
          <a:xfrm>
            <a:off x="3832882" y="1190515"/>
            <a:ext cx="4678724" cy="2238485"/>
          </a:xfrm>
          <a:prstGeom prst="rect">
            <a:avLst/>
          </a:prstGeom>
        </p:spPr>
      </p:pic>
      <p:pic>
        <p:nvPicPr>
          <p:cNvPr id="15" name="Picture 14">
            <a:extLst>
              <a:ext uri="{FF2B5EF4-FFF2-40B4-BE49-F238E27FC236}">
                <a16:creationId xmlns:a16="http://schemas.microsoft.com/office/drawing/2014/main" id="{60F19611-5450-B0C3-686A-96FAD02E031E}"/>
              </a:ext>
            </a:extLst>
          </p:cNvPr>
          <p:cNvPicPr>
            <a:picLocks noChangeAspect="1"/>
          </p:cNvPicPr>
          <p:nvPr/>
        </p:nvPicPr>
        <p:blipFill>
          <a:blip r:embed="rId4"/>
          <a:stretch>
            <a:fillRect/>
          </a:stretch>
        </p:blipFill>
        <p:spPr>
          <a:xfrm>
            <a:off x="1201443" y="3689723"/>
            <a:ext cx="4427198" cy="2499360"/>
          </a:xfrm>
          <a:prstGeom prst="rect">
            <a:avLst/>
          </a:prstGeom>
        </p:spPr>
      </p:pic>
      <p:pic>
        <p:nvPicPr>
          <p:cNvPr id="17" name="Picture 16">
            <a:extLst>
              <a:ext uri="{FF2B5EF4-FFF2-40B4-BE49-F238E27FC236}">
                <a16:creationId xmlns:a16="http://schemas.microsoft.com/office/drawing/2014/main" id="{739FF50D-D490-76A7-EFC0-B74A6FA80385}"/>
              </a:ext>
            </a:extLst>
          </p:cNvPr>
          <p:cNvPicPr>
            <a:picLocks noChangeAspect="1"/>
          </p:cNvPicPr>
          <p:nvPr/>
        </p:nvPicPr>
        <p:blipFill>
          <a:blip r:embed="rId5"/>
          <a:stretch>
            <a:fillRect/>
          </a:stretch>
        </p:blipFill>
        <p:spPr>
          <a:xfrm>
            <a:off x="6573520" y="3689723"/>
            <a:ext cx="4541520" cy="2499360"/>
          </a:xfrm>
          <a:prstGeom prst="rect">
            <a:avLst/>
          </a:prstGeom>
        </p:spPr>
      </p:pic>
    </p:spTree>
    <p:extLst>
      <p:ext uri="{BB962C8B-B14F-4D97-AF65-F5344CB8AC3E}">
        <p14:creationId xmlns:p14="http://schemas.microsoft.com/office/powerpoint/2010/main" val="1321203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1DB28-5781-43F6-9240-59666CE6E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11D468-A351-DD42-0C43-719651479D4C}"/>
              </a:ext>
            </a:extLst>
          </p:cNvPr>
          <p:cNvSpPr>
            <a:spLocks noGrp="1"/>
          </p:cNvSpPr>
          <p:nvPr>
            <p:ph type="title"/>
          </p:nvPr>
        </p:nvSpPr>
        <p:spPr>
          <a:xfrm>
            <a:off x="680720" y="433851"/>
            <a:ext cx="3942080" cy="643109"/>
          </a:xfrm>
        </p:spPr>
        <p:txBody>
          <a:bodyPr/>
          <a:lstStyle/>
          <a:p>
            <a:r>
              <a:rPr lang="en-IN" sz="3200" b="1" u="sng" dirty="0"/>
              <a:t>1.CREATE TABLES</a:t>
            </a:r>
            <a:endParaRPr lang="ru-RU" sz="3200" b="1" u="sng" dirty="0"/>
          </a:p>
        </p:txBody>
      </p:sp>
      <p:sp>
        <p:nvSpPr>
          <p:cNvPr id="8" name="TextBox 7">
            <a:extLst>
              <a:ext uri="{FF2B5EF4-FFF2-40B4-BE49-F238E27FC236}">
                <a16:creationId xmlns:a16="http://schemas.microsoft.com/office/drawing/2014/main" id="{818B8CEF-48A6-FFEB-161B-49A14C8ADC03}"/>
              </a:ext>
            </a:extLst>
          </p:cNvPr>
          <p:cNvSpPr txBox="1"/>
          <p:nvPr/>
        </p:nvSpPr>
        <p:spPr>
          <a:xfrm>
            <a:off x="716280" y="5223820"/>
            <a:ext cx="10759440" cy="1200329"/>
          </a:xfrm>
          <a:prstGeom prst="rect">
            <a:avLst/>
          </a:prstGeom>
          <a:solidFill>
            <a:schemeClr val="accent2">
              <a:lumMod val="40000"/>
              <a:lumOff val="60000"/>
            </a:schemeClr>
          </a:solidFill>
        </p:spPr>
        <p:txBody>
          <a:bodyPr wrap="square" rtlCol="0">
            <a:spAutoFit/>
          </a:bodyPr>
          <a:lstStyle/>
          <a:p>
            <a:pPr algn="ctr"/>
            <a:r>
              <a:rPr lang="en-US" b="1" u="sng"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ANALYSIS</a:t>
            </a:r>
            <a:r>
              <a:rPr lang="en-US"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p>
          <a:p>
            <a:r>
              <a:rPr lang="en-IN" dirty="0">
                <a:solidFill>
                  <a:schemeClr val="bg1"/>
                </a:solidFill>
                <a:latin typeface="Times New Roman" panose="02020603050405020304" pitchFamily="18" charset="0"/>
                <a:cs typeface="Times New Roman" panose="02020603050405020304" pitchFamily="18" charset="0"/>
              </a:rPr>
              <a:t>The database has been successfully designed with six tables — Employees, Departments, Attendance, Holidays, Leave Requests, and Work Schedules, covering all the major requirements of the Attendance Management System.</a:t>
            </a:r>
          </a:p>
          <a:p>
            <a:endParaRPr lang="en-US"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6CA5F0CD-CD44-E199-A907-4694DF68AE97}"/>
              </a:ext>
            </a:extLst>
          </p:cNvPr>
          <p:cNvPicPr>
            <a:picLocks noChangeAspect="1"/>
          </p:cNvPicPr>
          <p:nvPr/>
        </p:nvPicPr>
        <p:blipFill>
          <a:blip r:embed="rId3"/>
          <a:srcRect/>
          <a:stretch/>
        </p:blipFill>
        <p:spPr>
          <a:xfrm>
            <a:off x="4089400" y="978977"/>
            <a:ext cx="3942080" cy="1609011"/>
          </a:xfrm>
          <a:prstGeom prst="rect">
            <a:avLst/>
          </a:prstGeom>
        </p:spPr>
      </p:pic>
      <p:pic>
        <p:nvPicPr>
          <p:cNvPr id="7" name="Picture 6">
            <a:extLst>
              <a:ext uri="{FF2B5EF4-FFF2-40B4-BE49-F238E27FC236}">
                <a16:creationId xmlns:a16="http://schemas.microsoft.com/office/drawing/2014/main" id="{70970696-71A8-DCE9-CC02-E4860EBE40D5}"/>
              </a:ext>
            </a:extLst>
          </p:cNvPr>
          <p:cNvPicPr>
            <a:picLocks noChangeAspect="1"/>
          </p:cNvPicPr>
          <p:nvPr/>
        </p:nvPicPr>
        <p:blipFill>
          <a:blip r:embed="rId4"/>
          <a:srcRect/>
          <a:stretch/>
        </p:blipFill>
        <p:spPr>
          <a:xfrm>
            <a:off x="1127760" y="2754832"/>
            <a:ext cx="4754878" cy="2223568"/>
          </a:xfrm>
          <a:prstGeom prst="rect">
            <a:avLst/>
          </a:prstGeom>
        </p:spPr>
      </p:pic>
      <p:pic>
        <p:nvPicPr>
          <p:cNvPr id="11" name="Picture 10">
            <a:extLst>
              <a:ext uri="{FF2B5EF4-FFF2-40B4-BE49-F238E27FC236}">
                <a16:creationId xmlns:a16="http://schemas.microsoft.com/office/drawing/2014/main" id="{1AB69E5D-4054-F82F-D01F-C083D6FA8469}"/>
              </a:ext>
            </a:extLst>
          </p:cNvPr>
          <p:cNvPicPr>
            <a:picLocks noChangeAspect="1"/>
          </p:cNvPicPr>
          <p:nvPr/>
        </p:nvPicPr>
        <p:blipFill>
          <a:blip r:embed="rId5"/>
          <a:srcRect/>
          <a:stretch/>
        </p:blipFill>
        <p:spPr>
          <a:xfrm>
            <a:off x="6309362" y="2754832"/>
            <a:ext cx="4632958" cy="2223568"/>
          </a:xfrm>
          <a:prstGeom prst="rect">
            <a:avLst/>
          </a:prstGeom>
        </p:spPr>
      </p:pic>
    </p:spTree>
    <p:extLst>
      <p:ext uri="{BB962C8B-B14F-4D97-AF65-F5344CB8AC3E}">
        <p14:creationId xmlns:p14="http://schemas.microsoft.com/office/powerpoint/2010/main" val="199128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22896-6820-FC06-6DA9-0A3D339569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5A89E-5374-647B-03C5-EECE61347526}"/>
              </a:ext>
            </a:extLst>
          </p:cNvPr>
          <p:cNvSpPr>
            <a:spLocks noGrp="1"/>
          </p:cNvSpPr>
          <p:nvPr>
            <p:ph type="title"/>
          </p:nvPr>
        </p:nvSpPr>
        <p:spPr>
          <a:xfrm>
            <a:off x="680720" y="433851"/>
            <a:ext cx="3942080" cy="643109"/>
          </a:xfrm>
        </p:spPr>
        <p:txBody>
          <a:bodyPr/>
          <a:lstStyle/>
          <a:p>
            <a:r>
              <a:rPr lang="en-IN" sz="3200" b="1" u="sng" dirty="0"/>
              <a:t>2.INSERT RECORDS</a:t>
            </a:r>
            <a:endParaRPr lang="ru-RU" sz="3200" b="1" u="sng" dirty="0"/>
          </a:p>
        </p:txBody>
      </p:sp>
      <p:pic>
        <p:nvPicPr>
          <p:cNvPr id="4" name="Picture 3">
            <a:extLst>
              <a:ext uri="{FF2B5EF4-FFF2-40B4-BE49-F238E27FC236}">
                <a16:creationId xmlns:a16="http://schemas.microsoft.com/office/drawing/2014/main" id="{E8DDBCD5-E17D-3829-DD57-50F5D3948C1A}"/>
              </a:ext>
            </a:extLst>
          </p:cNvPr>
          <p:cNvPicPr>
            <a:picLocks noChangeAspect="1"/>
          </p:cNvPicPr>
          <p:nvPr/>
        </p:nvPicPr>
        <p:blipFill>
          <a:blip r:embed="rId3"/>
          <a:srcRect/>
          <a:stretch/>
        </p:blipFill>
        <p:spPr>
          <a:xfrm>
            <a:off x="2821693" y="1051560"/>
            <a:ext cx="5915366" cy="2900680"/>
          </a:xfrm>
          <a:prstGeom prst="rect">
            <a:avLst/>
          </a:prstGeom>
        </p:spPr>
      </p:pic>
      <p:pic>
        <p:nvPicPr>
          <p:cNvPr id="7" name="Picture 6">
            <a:extLst>
              <a:ext uri="{FF2B5EF4-FFF2-40B4-BE49-F238E27FC236}">
                <a16:creationId xmlns:a16="http://schemas.microsoft.com/office/drawing/2014/main" id="{4568780E-A8F2-E1F5-4A71-0A0066AEA3F8}"/>
              </a:ext>
            </a:extLst>
          </p:cNvPr>
          <p:cNvPicPr>
            <a:picLocks noChangeAspect="1"/>
          </p:cNvPicPr>
          <p:nvPr/>
        </p:nvPicPr>
        <p:blipFill>
          <a:blip r:embed="rId4"/>
          <a:srcRect/>
          <a:stretch/>
        </p:blipFill>
        <p:spPr>
          <a:xfrm>
            <a:off x="1219200" y="4033520"/>
            <a:ext cx="3942079" cy="2509520"/>
          </a:xfrm>
          <a:prstGeom prst="rect">
            <a:avLst/>
          </a:prstGeom>
        </p:spPr>
      </p:pic>
      <p:pic>
        <p:nvPicPr>
          <p:cNvPr id="11" name="Picture 10">
            <a:extLst>
              <a:ext uri="{FF2B5EF4-FFF2-40B4-BE49-F238E27FC236}">
                <a16:creationId xmlns:a16="http://schemas.microsoft.com/office/drawing/2014/main" id="{42CD4AB0-75E8-A6EE-8BB8-9F586A70EF7E}"/>
              </a:ext>
            </a:extLst>
          </p:cNvPr>
          <p:cNvPicPr>
            <a:picLocks noChangeAspect="1"/>
          </p:cNvPicPr>
          <p:nvPr/>
        </p:nvPicPr>
        <p:blipFill>
          <a:blip r:embed="rId5"/>
          <a:srcRect/>
          <a:stretch/>
        </p:blipFill>
        <p:spPr>
          <a:xfrm>
            <a:off x="5779376" y="4033520"/>
            <a:ext cx="5554598" cy="2509520"/>
          </a:xfrm>
          <a:prstGeom prst="rect">
            <a:avLst/>
          </a:prstGeom>
        </p:spPr>
      </p:pic>
    </p:spTree>
    <p:extLst>
      <p:ext uri="{BB962C8B-B14F-4D97-AF65-F5344CB8AC3E}">
        <p14:creationId xmlns:p14="http://schemas.microsoft.com/office/powerpoint/2010/main" val="4192318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B74D9-D089-2365-E79C-3FE5CB458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386CD1-B4C8-CF18-100A-1B9253358DF9}"/>
              </a:ext>
            </a:extLst>
          </p:cNvPr>
          <p:cNvSpPr>
            <a:spLocks noGrp="1"/>
          </p:cNvSpPr>
          <p:nvPr>
            <p:ph type="title"/>
          </p:nvPr>
        </p:nvSpPr>
        <p:spPr>
          <a:xfrm>
            <a:off x="680720" y="433851"/>
            <a:ext cx="3942080" cy="643109"/>
          </a:xfrm>
        </p:spPr>
        <p:txBody>
          <a:bodyPr/>
          <a:lstStyle/>
          <a:p>
            <a:r>
              <a:rPr lang="en-IN" sz="3200" b="1" u="sng" dirty="0"/>
              <a:t>2.INSERT RECORDS</a:t>
            </a:r>
            <a:endParaRPr lang="ru-RU" sz="3200" b="1" u="sng" dirty="0"/>
          </a:p>
        </p:txBody>
      </p:sp>
      <p:sp>
        <p:nvSpPr>
          <p:cNvPr id="8" name="TextBox 7">
            <a:extLst>
              <a:ext uri="{FF2B5EF4-FFF2-40B4-BE49-F238E27FC236}">
                <a16:creationId xmlns:a16="http://schemas.microsoft.com/office/drawing/2014/main" id="{D4DE983F-8DA4-7CFA-B09A-2B97FBDAE857}"/>
              </a:ext>
            </a:extLst>
          </p:cNvPr>
          <p:cNvSpPr txBox="1"/>
          <p:nvPr/>
        </p:nvSpPr>
        <p:spPr>
          <a:xfrm>
            <a:off x="680720" y="5158472"/>
            <a:ext cx="10759440" cy="1631216"/>
          </a:xfrm>
          <a:prstGeom prst="rect">
            <a:avLst/>
          </a:prstGeom>
          <a:solidFill>
            <a:schemeClr val="accent2">
              <a:lumMod val="40000"/>
              <a:lumOff val="60000"/>
            </a:schemeClr>
          </a:solidFill>
        </p:spPr>
        <p:txBody>
          <a:bodyPr wrap="square" rtlCol="0">
            <a:spAutoFit/>
          </a:bodyPr>
          <a:lstStyle/>
          <a:p>
            <a:pPr algn="ctr"/>
            <a:r>
              <a:rPr lang="en-US" b="1" u="sng" dirty="0">
                <a:solidFill>
                  <a:srgbClr val="262626"/>
                </a:solidFill>
                <a:latin typeface="Times New Roman" panose="02020603050405020304" pitchFamily="18" charset="0"/>
                <a:ea typeface="Calibri" panose="020F0502020204030204" pitchFamily="34" charset="0"/>
                <a:cs typeface="Times New Roman" panose="02020603050405020304" pitchFamily="18" charset="0"/>
              </a:rPr>
              <a:t>ANALYSIS</a:t>
            </a:r>
            <a:r>
              <a:rPr lang="en-US" b="1" dirty="0">
                <a:solidFill>
                  <a:srgbClr val="262626"/>
                </a:solidFill>
                <a:latin typeface="Times New Roman" panose="02020603050405020304" pitchFamily="18" charset="0"/>
                <a:ea typeface="Calibri" panose="020F0502020204030204" pitchFamily="34" charset="0"/>
                <a:cs typeface="Times New Roman" panose="02020603050405020304" pitchFamily="18" charset="0"/>
              </a:rPr>
              <a:t> </a:t>
            </a:r>
          </a:p>
          <a:p>
            <a:pPr marL="342900" indent="-34290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The database has been successfully populated with sample records across all six tables — Employees, Departments, Attendance, Holidays, Leave Requests, and Work Schedules, providing sufficient data for SQL analysis.</a:t>
            </a:r>
          </a:p>
          <a:p>
            <a:pPr marL="342900" indent="-342900">
              <a:buFont typeface="Arial" panose="020B0604020202020204" pitchFamily="34" charset="0"/>
              <a:buChar char="•"/>
            </a:pPr>
            <a:r>
              <a:rPr lang="en-IN" sz="1600" dirty="0">
                <a:solidFill>
                  <a:schemeClr val="bg1"/>
                </a:solidFill>
                <a:latin typeface="Times New Roman" panose="02020603050405020304" pitchFamily="18" charset="0"/>
                <a:cs typeface="Times New Roman" panose="02020603050405020304" pitchFamily="18" charset="0"/>
              </a:rPr>
              <a:t>The inserted records maintain primary key and foreign key relationships, ensuring data integrity and referential consistency across the Attendance Management System.</a:t>
            </a:r>
          </a:p>
          <a:p>
            <a:pPr marL="342900" indent="-342900">
              <a:buFont typeface="Arial" panose="020B0604020202020204" pitchFamily="34" charset="0"/>
              <a:buChar char="•"/>
            </a:pPr>
            <a:endParaRPr lang="en-US" b="1" dirty="0">
              <a:solidFill>
                <a:srgbClr val="262626"/>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F64FDFC-1FC7-61DC-5F48-C4D324E12007}"/>
              </a:ext>
            </a:extLst>
          </p:cNvPr>
          <p:cNvPicPr>
            <a:picLocks noChangeAspect="1"/>
          </p:cNvPicPr>
          <p:nvPr/>
        </p:nvPicPr>
        <p:blipFill>
          <a:blip r:embed="rId3"/>
          <a:srcRect/>
          <a:stretch/>
        </p:blipFill>
        <p:spPr>
          <a:xfrm>
            <a:off x="4547261" y="755405"/>
            <a:ext cx="3097477" cy="2162174"/>
          </a:xfrm>
          <a:prstGeom prst="rect">
            <a:avLst/>
          </a:prstGeom>
        </p:spPr>
      </p:pic>
      <p:pic>
        <p:nvPicPr>
          <p:cNvPr id="7" name="Picture 6">
            <a:extLst>
              <a:ext uri="{FF2B5EF4-FFF2-40B4-BE49-F238E27FC236}">
                <a16:creationId xmlns:a16="http://schemas.microsoft.com/office/drawing/2014/main" id="{E447E13B-3313-FB98-8764-A4D9E400EEC8}"/>
              </a:ext>
            </a:extLst>
          </p:cNvPr>
          <p:cNvPicPr>
            <a:picLocks noChangeAspect="1"/>
          </p:cNvPicPr>
          <p:nvPr/>
        </p:nvPicPr>
        <p:blipFill>
          <a:blip r:embed="rId4"/>
          <a:srcRect/>
          <a:stretch/>
        </p:blipFill>
        <p:spPr>
          <a:xfrm>
            <a:off x="1017322" y="3027282"/>
            <a:ext cx="5128155" cy="2021487"/>
          </a:xfrm>
          <a:prstGeom prst="rect">
            <a:avLst/>
          </a:prstGeom>
        </p:spPr>
      </p:pic>
      <p:pic>
        <p:nvPicPr>
          <p:cNvPr id="11" name="Picture 10">
            <a:extLst>
              <a:ext uri="{FF2B5EF4-FFF2-40B4-BE49-F238E27FC236}">
                <a16:creationId xmlns:a16="http://schemas.microsoft.com/office/drawing/2014/main" id="{0E1BE63F-8FCA-6AFA-9804-E74AE0DC72AA}"/>
              </a:ext>
            </a:extLst>
          </p:cNvPr>
          <p:cNvPicPr>
            <a:picLocks noChangeAspect="1"/>
          </p:cNvPicPr>
          <p:nvPr/>
        </p:nvPicPr>
        <p:blipFill>
          <a:blip r:embed="rId5"/>
          <a:srcRect/>
          <a:stretch/>
        </p:blipFill>
        <p:spPr>
          <a:xfrm>
            <a:off x="6532880" y="3027282"/>
            <a:ext cx="4641798" cy="2021487"/>
          </a:xfrm>
          <a:prstGeom prst="rect">
            <a:avLst/>
          </a:prstGeom>
        </p:spPr>
      </p:pic>
    </p:spTree>
    <p:extLst>
      <p:ext uri="{BB962C8B-B14F-4D97-AF65-F5344CB8AC3E}">
        <p14:creationId xmlns:p14="http://schemas.microsoft.com/office/powerpoint/2010/main" val="1270926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2DA0F-F7C8-8B93-9663-0AD0183B3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78A31-EF09-9863-D357-A55B51DB0FF8}"/>
              </a:ext>
            </a:extLst>
          </p:cNvPr>
          <p:cNvSpPr>
            <a:spLocks noGrp="1"/>
          </p:cNvSpPr>
          <p:nvPr>
            <p:ph type="title"/>
          </p:nvPr>
        </p:nvSpPr>
        <p:spPr>
          <a:xfrm>
            <a:off x="2752199" y="226848"/>
            <a:ext cx="5964382" cy="643109"/>
          </a:xfrm>
          <a:solidFill>
            <a:schemeClr val="bg1">
              <a:lumMod val="50000"/>
              <a:lumOff val="50000"/>
            </a:schemeClr>
          </a:solidFill>
          <a:ln>
            <a:solidFill>
              <a:schemeClr val="bg1"/>
            </a:solidFill>
          </a:ln>
          <a:effectLst>
            <a:outerShdw blurRad="50800" dist="38100" dir="2700000" algn="tl" rotWithShape="0">
              <a:prstClr val="black">
                <a:alpha val="40000"/>
              </a:prstClr>
            </a:outerShdw>
          </a:effectLst>
        </p:spPr>
        <p:txBody>
          <a:bodyPr/>
          <a:lstStyle/>
          <a:p>
            <a:pPr algn="ctr"/>
            <a:r>
              <a:rPr lang="en-IN" sz="3200" b="1" u="sng" dirty="0"/>
              <a:t>Data Retrieval Queries</a:t>
            </a:r>
            <a:endParaRPr lang="ru-RU" sz="3200" b="1" u="sng" dirty="0"/>
          </a:p>
        </p:txBody>
      </p:sp>
      <p:sp>
        <p:nvSpPr>
          <p:cNvPr id="4" name="TextBox 3">
            <a:extLst>
              <a:ext uri="{FF2B5EF4-FFF2-40B4-BE49-F238E27FC236}">
                <a16:creationId xmlns:a16="http://schemas.microsoft.com/office/drawing/2014/main" id="{7719DE73-F76E-DF8B-280D-B68298810FDF}"/>
              </a:ext>
            </a:extLst>
          </p:cNvPr>
          <p:cNvSpPr txBox="1"/>
          <p:nvPr/>
        </p:nvSpPr>
        <p:spPr>
          <a:xfrm>
            <a:off x="2285986" y="908590"/>
            <a:ext cx="8778254" cy="1107996"/>
          </a:xfrm>
          <a:prstGeom prst="rect">
            <a:avLst/>
          </a:prstGeom>
          <a:noFill/>
          <a:ln>
            <a:noFill/>
          </a:ln>
          <a:effectLst>
            <a:outerShdw blurRad="50800" dist="38100" dir="5400000" algn="t" rotWithShape="0">
              <a:prstClr val="black">
                <a:alpha val="40000"/>
              </a:prstClr>
            </a:outerShdw>
          </a:effectLst>
        </p:spPr>
        <p:txBody>
          <a:bodyPr wrap="square" rtlCol="0">
            <a:spAutoFit/>
          </a:bodyPr>
          <a:lstStyle/>
          <a:p>
            <a:r>
              <a:rPr lang="en-US" sz="2200" b="1" dirty="0">
                <a:latin typeface="Calibri" panose="020F0502020204030204" pitchFamily="34" charset="0"/>
                <a:ea typeface="Calibri" panose="020F0502020204030204" pitchFamily="34" charset="0"/>
                <a:cs typeface="Calibri" panose="020F0502020204030204" pitchFamily="34" charset="0"/>
              </a:rPr>
              <a:t>-- Select Records</a:t>
            </a:r>
          </a:p>
          <a:p>
            <a:r>
              <a:rPr lang="en-US" sz="2200" b="1" dirty="0">
                <a:latin typeface="Calibri" panose="020F0502020204030204" pitchFamily="34" charset="0"/>
                <a:ea typeface="Calibri" panose="020F0502020204030204" pitchFamily="34" charset="0"/>
                <a:cs typeface="Calibri" panose="020F0502020204030204" pitchFamily="34" charset="0"/>
              </a:rPr>
              <a:t>Write a query to select all attendance records from the Attendance table where the Status is 'Late'.</a:t>
            </a:r>
          </a:p>
        </p:txBody>
      </p:sp>
      <p:sp>
        <p:nvSpPr>
          <p:cNvPr id="6" name="TextBox 5">
            <a:extLst>
              <a:ext uri="{FF2B5EF4-FFF2-40B4-BE49-F238E27FC236}">
                <a16:creationId xmlns:a16="http://schemas.microsoft.com/office/drawing/2014/main" id="{9B089B9B-E16E-BA1A-14C6-8D5CC9014085}"/>
              </a:ext>
            </a:extLst>
          </p:cNvPr>
          <p:cNvSpPr txBox="1"/>
          <p:nvPr/>
        </p:nvSpPr>
        <p:spPr>
          <a:xfrm>
            <a:off x="416551" y="1223565"/>
            <a:ext cx="186943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Question 3 -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00CDD16B-C31C-634E-00F6-7F03E334189B}"/>
              </a:ext>
            </a:extLst>
          </p:cNvPr>
          <p:cNvSpPr txBox="1"/>
          <p:nvPr/>
        </p:nvSpPr>
        <p:spPr>
          <a:xfrm>
            <a:off x="426714" y="2067023"/>
            <a:ext cx="1219198"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Query -</a:t>
            </a:r>
            <a:endParaRPr lang="en-US" dirty="0"/>
          </a:p>
        </p:txBody>
      </p:sp>
      <p:sp>
        <p:nvSpPr>
          <p:cNvPr id="11" name="TextBox 10">
            <a:extLst>
              <a:ext uri="{FF2B5EF4-FFF2-40B4-BE49-F238E27FC236}">
                <a16:creationId xmlns:a16="http://schemas.microsoft.com/office/drawing/2014/main" id="{88A3AB13-EC25-0A87-F3FB-A511A5E37767}"/>
              </a:ext>
            </a:extLst>
          </p:cNvPr>
          <p:cNvSpPr txBox="1"/>
          <p:nvPr/>
        </p:nvSpPr>
        <p:spPr>
          <a:xfrm>
            <a:off x="426714" y="3132493"/>
            <a:ext cx="138176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Output -</a:t>
            </a:r>
            <a:endParaRPr lang="en-US" dirty="0"/>
          </a:p>
        </p:txBody>
      </p:sp>
      <p:sp>
        <p:nvSpPr>
          <p:cNvPr id="13" name="TextBox 12">
            <a:extLst>
              <a:ext uri="{FF2B5EF4-FFF2-40B4-BE49-F238E27FC236}">
                <a16:creationId xmlns:a16="http://schemas.microsoft.com/office/drawing/2014/main" id="{6106A50F-A7A0-DC34-8264-E9A54649AF0C}"/>
              </a:ext>
            </a:extLst>
          </p:cNvPr>
          <p:cNvSpPr txBox="1"/>
          <p:nvPr/>
        </p:nvSpPr>
        <p:spPr>
          <a:xfrm>
            <a:off x="416551" y="5232119"/>
            <a:ext cx="1584961"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Analysis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F5F7F870-3736-2F32-C923-F863D8F6E3A9}"/>
              </a:ext>
            </a:extLst>
          </p:cNvPr>
          <p:cNvSpPr txBox="1"/>
          <p:nvPr/>
        </p:nvSpPr>
        <p:spPr>
          <a:xfrm>
            <a:off x="504871" y="5742897"/>
            <a:ext cx="9983378" cy="969496"/>
          </a:xfrm>
          <a:prstGeom prst="rect">
            <a:avLst/>
          </a:prstGeom>
          <a:solidFill>
            <a:schemeClr val="accent2">
              <a:lumMod val="40000"/>
              <a:lumOff val="60000"/>
            </a:schemeClr>
          </a:solidFill>
        </p:spPr>
        <p:txBody>
          <a:bodyPr wrap="square" rtlCol="0">
            <a:spAutoFit/>
          </a:bodyPr>
          <a:lstStyle/>
          <a:p>
            <a:r>
              <a:rPr lang="en-IN" sz="1900" dirty="0">
                <a:solidFill>
                  <a:schemeClr val="bg1"/>
                </a:solidFill>
                <a:latin typeface="Times New Roman" panose="02020603050405020304" pitchFamily="18" charset="0"/>
                <a:cs typeface="Times New Roman" panose="02020603050405020304" pitchFamily="18" charset="0"/>
              </a:rPr>
              <a:t>• </a:t>
            </a:r>
            <a:r>
              <a:rPr lang="en-IN" sz="1900" b="1" dirty="0">
                <a:solidFill>
                  <a:schemeClr val="bg1"/>
                </a:solidFill>
                <a:latin typeface="Times New Roman" panose="02020603050405020304" pitchFamily="18" charset="0"/>
                <a:cs typeface="Times New Roman" panose="02020603050405020304" pitchFamily="18" charset="0"/>
              </a:rPr>
              <a:t>The query retrieves all attendance records where the employee's status is marked as 'Late'.</a:t>
            </a:r>
            <a:endParaRPr lang="en-IN" sz="1900" dirty="0">
              <a:solidFill>
                <a:schemeClr val="bg1"/>
              </a:solidFill>
              <a:latin typeface="Times New Roman" panose="02020603050405020304" pitchFamily="18" charset="0"/>
              <a:cs typeface="Times New Roman" panose="02020603050405020304" pitchFamily="18" charset="0"/>
            </a:endParaRPr>
          </a:p>
          <a:p>
            <a:r>
              <a:rPr lang="en-IN" sz="1900" dirty="0">
                <a:solidFill>
                  <a:schemeClr val="bg1"/>
                </a:solidFill>
                <a:latin typeface="Times New Roman" panose="02020603050405020304" pitchFamily="18" charset="0"/>
                <a:cs typeface="Times New Roman" panose="02020603050405020304" pitchFamily="18" charset="0"/>
              </a:rPr>
              <a:t>• </a:t>
            </a:r>
            <a:r>
              <a:rPr lang="en-IN" sz="1900" b="1" dirty="0">
                <a:solidFill>
                  <a:schemeClr val="bg1"/>
                </a:solidFill>
                <a:latin typeface="Times New Roman" panose="02020603050405020304" pitchFamily="18" charset="0"/>
                <a:cs typeface="Times New Roman" panose="02020603050405020304" pitchFamily="18" charset="0"/>
              </a:rPr>
              <a:t>It helps the organization identify and monitor employees who arrive late to work.</a:t>
            </a:r>
            <a:endParaRPr lang="en-IN" sz="1900" dirty="0">
              <a:solidFill>
                <a:schemeClr val="bg1"/>
              </a:solidFill>
              <a:latin typeface="Times New Roman" panose="02020603050405020304" pitchFamily="18" charset="0"/>
              <a:cs typeface="Times New Roman" panose="02020603050405020304" pitchFamily="18" charset="0"/>
            </a:endParaRPr>
          </a:p>
          <a:p>
            <a:endParaRPr lang="en-IN" sz="1900"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7CE39AC4-18C4-E1AA-B84A-04CB1148994B}"/>
              </a:ext>
            </a:extLst>
          </p:cNvPr>
          <p:cNvPicPr>
            <a:picLocks noChangeAspect="1"/>
          </p:cNvPicPr>
          <p:nvPr/>
        </p:nvPicPr>
        <p:blipFill>
          <a:blip r:embed="rId3"/>
          <a:srcRect/>
          <a:stretch/>
        </p:blipFill>
        <p:spPr>
          <a:xfrm>
            <a:off x="2285986" y="3048001"/>
            <a:ext cx="5232414" cy="2412654"/>
          </a:xfrm>
          <a:prstGeom prst="rect">
            <a:avLst/>
          </a:prstGeom>
        </p:spPr>
      </p:pic>
      <p:pic>
        <p:nvPicPr>
          <p:cNvPr id="5" name="Picture 4">
            <a:extLst>
              <a:ext uri="{FF2B5EF4-FFF2-40B4-BE49-F238E27FC236}">
                <a16:creationId xmlns:a16="http://schemas.microsoft.com/office/drawing/2014/main" id="{51A69A07-5E76-D111-3BED-24D74C09426C}"/>
              </a:ext>
            </a:extLst>
          </p:cNvPr>
          <p:cNvPicPr>
            <a:picLocks noChangeAspect="1"/>
          </p:cNvPicPr>
          <p:nvPr/>
        </p:nvPicPr>
        <p:blipFill>
          <a:blip r:embed="rId4"/>
          <a:srcRect/>
          <a:stretch/>
        </p:blipFill>
        <p:spPr>
          <a:xfrm>
            <a:off x="2285986" y="2060500"/>
            <a:ext cx="3210574" cy="672540"/>
          </a:xfrm>
          <a:prstGeom prst="rect">
            <a:avLst/>
          </a:prstGeom>
        </p:spPr>
      </p:pic>
    </p:spTree>
    <p:extLst>
      <p:ext uri="{BB962C8B-B14F-4D97-AF65-F5344CB8AC3E}">
        <p14:creationId xmlns:p14="http://schemas.microsoft.com/office/powerpoint/2010/main" val="764854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5DD77-8C7F-A8A3-F169-364172D04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33EFD-1279-2066-DF49-F4D4477F44CF}"/>
              </a:ext>
            </a:extLst>
          </p:cNvPr>
          <p:cNvSpPr>
            <a:spLocks noGrp="1"/>
          </p:cNvSpPr>
          <p:nvPr>
            <p:ph type="title"/>
          </p:nvPr>
        </p:nvSpPr>
        <p:spPr>
          <a:xfrm>
            <a:off x="2752199" y="226848"/>
            <a:ext cx="5964382" cy="643109"/>
          </a:xfrm>
          <a:solidFill>
            <a:schemeClr val="bg1">
              <a:lumMod val="50000"/>
              <a:lumOff val="50000"/>
            </a:schemeClr>
          </a:solidFill>
          <a:ln>
            <a:solidFill>
              <a:schemeClr val="bg1"/>
            </a:solidFill>
          </a:ln>
          <a:effectLst>
            <a:outerShdw blurRad="50800" dist="38100" dir="2700000" algn="tl" rotWithShape="0">
              <a:prstClr val="black">
                <a:alpha val="40000"/>
              </a:prstClr>
            </a:outerShdw>
          </a:effectLst>
        </p:spPr>
        <p:txBody>
          <a:bodyPr/>
          <a:lstStyle/>
          <a:p>
            <a:pPr algn="ctr"/>
            <a:r>
              <a:rPr lang="en-IN" sz="3200" b="1" u="sng" dirty="0"/>
              <a:t>Data Retrieval Queries</a:t>
            </a:r>
            <a:endParaRPr lang="ru-RU" sz="3200" b="1" u="sng" dirty="0"/>
          </a:p>
        </p:txBody>
      </p:sp>
      <p:sp>
        <p:nvSpPr>
          <p:cNvPr id="4" name="TextBox 3">
            <a:extLst>
              <a:ext uri="{FF2B5EF4-FFF2-40B4-BE49-F238E27FC236}">
                <a16:creationId xmlns:a16="http://schemas.microsoft.com/office/drawing/2014/main" id="{27228362-4B66-9F93-7083-97818A2361FA}"/>
              </a:ext>
            </a:extLst>
          </p:cNvPr>
          <p:cNvSpPr txBox="1"/>
          <p:nvPr/>
        </p:nvSpPr>
        <p:spPr>
          <a:xfrm>
            <a:off x="2285986" y="908590"/>
            <a:ext cx="8778254" cy="1015663"/>
          </a:xfrm>
          <a:prstGeom prst="rect">
            <a:avLst/>
          </a:prstGeom>
          <a:noFill/>
          <a:ln>
            <a:noFill/>
          </a:ln>
          <a:effectLst>
            <a:outerShdw blurRad="50800" dist="38100" dir="5400000" algn="t" rotWithShape="0">
              <a:prstClr val="black">
                <a:alpha val="40000"/>
              </a:prstClr>
            </a:outerShdw>
          </a:effectLst>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 WHERE CLAUSE (AND)</a:t>
            </a:r>
          </a:p>
          <a:p>
            <a:r>
              <a:rPr lang="en-US" sz="2000" b="1" dirty="0">
                <a:latin typeface="Calibri" panose="020F0502020204030204" pitchFamily="34" charset="0"/>
                <a:ea typeface="Calibri" panose="020F0502020204030204" pitchFamily="34" charset="0"/>
                <a:cs typeface="Calibri" panose="020F0502020204030204" pitchFamily="34" charset="0"/>
              </a:rPr>
              <a:t>Write a query to select all employees from the Employees table who work in the 'HR' department and were hired after January 1, 2020.</a:t>
            </a:r>
          </a:p>
        </p:txBody>
      </p:sp>
      <p:sp>
        <p:nvSpPr>
          <p:cNvPr id="6" name="TextBox 5">
            <a:extLst>
              <a:ext uri="{FF2B5EF4-FFF2-40B4-BE49-F238E27FC236}">
                <a16:creationId xmlns:a16="http://schemas.microsoft.com/office/drawing/2014/main" id="{4C97EB32-AE91-A4EE-3E45-7E9740B49D18}"/>
              </a:ext>
            </a:extLst>
          </p:cNvPr>
          <p:cNvSpPr txBox="1"/>
          <p:nvPr/>
        </p:nvSpPr>
        <p:spPr>
          <a:xfrm>
            <a:off x="416551" y="1223565"/>
            <a:ext cx="186943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Question 4 -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C23456A9-B1A2-6DEC-93D7-F88180E255EB}"/>
              </a:ext>
            </a:extLst>
          </p:cNvPr>
          <p:cNvSpPr txBox="1"/>
          <p:nvPr/>
        </p:nvSpPr>
        <p:spPr>
          <a:xfrm>
            <a:off x="426714" y="2067023"/>
            <a:ext cx="1219198"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Query -</a:t>
            </a:r>
            <a:endParaRPr lang="en-US" dirty="0"/>
          </a:p>
        </p:txBody>
      </p:sp>
      <p:sp>
        <p:nvSpPr>
          <p:cNvPr id="11" name="TextBox 10">
            <a:extLst>
              <a:ext uri="{FF2B5EF4-FFF2-40B4-BE49-F238E27FC236}">
                <a16:creationId xmlns:a16="http://schemas.microsoft.com/office/drawing/2014/main" id="{1FF72CBB-4663-B3A3-2434-27515401A014}"/>
              </a:ext>
            </a:extLst>
          </p:cNvPr>
          <p:cNvSpPr txBox="1"/>
          <p:nvPr/>
        </p:nvSpPr>
        <p:spPr>
          <a:xfrm>
            <a:off x="426714" y="3132493"/>
            <a:ext cx="138176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Output -</a:t>
            </a:r>
            <a:endParaRPr lang="en-US" dirty="0"/>
          </a:p>
        </p:txBody>
      </p:sp>
      <p:sp>
        <p:nvSpPr>
          <p:cNvPr id="13" name="TextBox 12">
            <a:extLst>
              <a:ext uri="{FF2B5EF4-FFF2-40B4-BE49-F238E27FC236}">
                <a16:creationId xmlns:a16="http://schemas.microsoft.com/office/drawing/2014/main" id="{BAF8AB44-92A9-2BAD-4F9F-ABB1C7B393D3}"/>
              </a:ext>
            </a:extLst>
          </p:cNvPr>
          <p:cNvSpPr txBox="1"/>
          <p:nvPr/>
        </p:nvSpPr>
        <p:spPr>
          <a:xfrm>
            <a:off x="504871" y="4214671"/>
            <a:ext cx="1584961"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Analysis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88717E2E-0AD9-3F82-8B34-89902B933873}"/>
              </a:ext>
            </a:extLst>
          </p:cNvPr>
          <p:cNvSpPr txBox="1"/>
          <p:nvPr/>
        </p:nvSpPr>
        <p:spPr>
          <a:xfrm>
            <a:off x="596311" y="4822937"/>
            <a:ext cx="9983378" cy="1200329"/>
          </a:xfrm>
          <a:prstGeom prst="rect">
            <a:avLst/>
          </a:prstGeom>
          <a:solidFill>
            <a:schemeClr val="accent2">
              <a:lumMod val="40000"/>
              <a:lumOff val="60000"/>
            </a:schemeClr>
          </a:solid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 </a:t>
            </a:r>
            <a:r>
              <a:rPr lang="en-IN" b="1" dirty="0">
                <a:solidFill>
                  <a:schemeClr val="bg1"/>
                </a:solidFill>
                <a:latin typeface="Times New Roman" panose="02020603050405020304" pitchFamily="18" charset="0"/>
                <a:cs typeface="Times New Roman" panose="02020603050405020304" pitchFamily="18" charset="0"/>
              </a:rPr>
              <a:t>The query retrieves employees who work in the HR department and were hired after January 1, 2020.</a:t>
            </a:r>
            <a:endParaRPr lang="en-IN" dirty="0">
              <a:solidFill>
                <a:schemeClr val="bg1"/>
              </a:solidFill>
              <a:latin typeface="Times New Roman" panose="02020603050405020304" pitchFamily="18" charset="0"/>
              <a:cs typeface="Times New Roman" panose="02020603050405020304" pitchFamily="18" charset="0"/>
            </a:endParaRPr>
          </a:p>
          <a:p>
            <a:r>
              <a:rPr lang="en-IN" dirty="0">
                <a:solidFill>
                  <a:schemeClr val="bg1"/>
                </a:solidFill>
                <a:latin typeface="Times New Roman" panose="02020603050405020304" pitchFamily="18" charset="0"/>
                <a:cs typeface="Times New Roman" panose="02020603050405020304" pitchFamily="18" charset="0"/>
              </a:rPr>
              <a:t>• </a:t>
            </a:r>
            <a:r>
              <a:rPr lang="en-IN" b="1" dirty="0">
                <a:solidFill>
                  <a:schemeClr val="bg1"/>
                </a:solidFill>
                <a:latin typeface="Times New Roman" panose="02020603050405020304" pitchFamily="18" charset="0"/>
                <a:cs typeface="Times New Roman" panose="02020603050405020304" pitchFamily="18" charset="0"/>
              </a:rPr>
              <a:t>It helps the organization identify HR employees based on their department and hiring date</a:t>
            </a:r>
            <a:endParaRPr lang="en-IN" dirty="0">
              <a:solidFill>
                <a:schemeClr val="bg1"/>
              </a:solidFill>
              <a:latin typeface="Times New Roman" panose="02020603050405020304" pitchFamily="18" charset="0"/>
              <a:cs typeface="Times New Roman" panose="02020603050405020304" pitchFamily="18" charset="0"/>
            </a:endParaRPr>
          </a:p>
          <a:p>
            <a:endParaRPr lang="en-IN"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F2373528-F933-913F-1ADA-6C8DA80A6883}"/>
              </a:ext>
            </a:extLst>
          </p:cNvPr>
          <p:cNvPicPr>
            <a:picLocks noChangeAspect="1"/>
          </p:cNvPicPr>
          <p:nvPr/>
        </p:nvPicPr>
        <p:blipFill>
          <a:blip r:embed="rId3"/>
          <a:srcRect/>
          <a:stretch/>
        </p:blipFill>
        <p:spPr>
          <a:xfrm>
            <a:off x="2285986" y="3168305"/>
            <a:ext cx="8293703" cy="1046366"/>
          </a:xfrm>
          <a:prstGeom prst="rect">
            <a:avLst/>
          </a:prstGeom>
        </p:spPr>
      </p:pic>
      <p:pic>
        <p:nvPicPr>
          <p:cNvPr id="5" name="Picture 4">
            <a:extLst>
              <a:ext uri="{FF2B5EF4-FFF2-40B4-BE49-F238E27FC236}">
                <a16:creationId xmlns:a16="http://schemas.microsoft.com/office/drawing/2014/main" id="{2888BCB5-4572-968F-67FE-77FC92DCF50A}"/>
              </a:ext>
            </a:extLst>
          </p:cNvPr>
          <p:cNvPicPr>
            <a:picLocks noChangeAspect="1"/>
          </p:cNvPicPr>
          <p:nvPr/>
        </p:nvPicPr>
        <p:blipFill>
          <a:blip r:embed="rId4"/>
          <a:srcRect/>
          <a:stretch/>
        </p:blipFill>
        <p:spPr>
          <a:xfrm>
            <a:off x="2285986" y="2060500"/>
            <a:ext cx="3302014" cy="882274"/>
          </a:xfrm>
          <a:prstGeom prst="rect">
            <a:avLst/>
          </a:prstGeom>
        </p:spPr>
      </p:pic>
    </p:spTree>
    <p:extLst>
      <p:ext uri="{BB962C8B-B14F-4D97-AF65-F5344CB8AC3E}">
        <p14:creationId xmlns:p14="http://schemas.microsoft.com/office/powerpoint/2010/main" val="537453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09D50-F530-15E4-824E-8A9A36E69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1D752-344B-D747-9017-B7EF7CCC467F}"/>
              </a:ext>
            </a:extLst>
          </p:cNvPr>
          <p:cNvSpPr>
            <a:spLocks noGrp="1"/>
          </p:cNvSpPr>
          <p:nvPr>
            <p:ph type="title"/>
          </p:nvPr>
        </p:nvSpPr>
        <p:spPr>
          <a:xfrm>
            <a:off x="2752199" y="226848"/>
            <a:ext cx="5964382" cy="643109"/>
          </a:xfrm>
          <a:solidFill>
            <a:schemeClr val="bg1">
              <a:lumMod val="50000"/>
              <a:lumOff val="50000"/>
            </a:schemeClr>
          </a:solidFill>
          <a:ln>
            <a:solidFill>
              <a:schemeClr val="bg1"/>
            </a:solidFill>
          </a:ln>
          <a:effectLst>
            <a:outerShdw blurRad="50800" dist="38100" dir="2700000" algn="tl" rotWithShape="0">
              <a:prstClr val="black">
                <a:alpha val="40000"/>
              </a:prstClr>
            </a:outerShdw>
          </a:effectLst>
        </p:spPr>
        <p:txBody>
          <a:bodyPr/>
          <a:lstStyle/>
          <a:p>
            <a:pPr algn="ctr"/>
            <a:r>
              <a:rPr lang="en-IN" sz="3200" b="1" u="sng" dirty="0"/>
              <a:t>Data Retrieval Queries</a:t>
            </a:r>
            <a:endParaRPr lang="ru-RU" sz="3200" b="1" u="sng" dirty="0"/>
          </a:p>
        </p:txBody>
      </p:sp>
      <p:sp>
        <p:nvSpPr>
          <p:cNvPr id="4" name="TextBox 3">
            <a:extLst>
              <a:ext uri="{FF2B5EF4-FFF2-40B4-BE49-F238E27FC236}">
                <a16:creationId xmlns:a16="http://schemas.microsoft.com/office/drawing/2014/main" id="{2C21F360-A324-F09B-CC68-67F836754465}"/>
              </a:ext>
            </a:extLst>
          </p:cNvPr>
          <p:cNvSpPr txBox="1"/>
          <p:nvPr/>
        </p:nvSpPr>
        <p:spPr>
          <a:xfrm>
            <a:off x="2285986" y="908590"/>
            <a:ext cx="8778254" cy="1015663"/>
          </a:xfrm>
          <a:prstGeom prst="rect">
            <a:avLst/>
          </a:prstGeom>
          <a:noFill/>
          <a:ln>
            <a:noFill/>
          </a:ln>
          <a:effectLst>
            <a:outerShdw blurRad="50800" dist="38100" dir="5400000" algn="t" rotWithShape="0">
              <a:prstClr val="black">
                <a:alpha val="40000"/>
              </a:prstClr>
            </a:outerShdw>
          </a:effectLst>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 LIKE OPERATOR</a:t>
            </a:r>
          </a:p>
          <a:p>
            <a:r>
              <a:rPr lang="en-US" sz="2000" b="1" dirty="0">
                <a:latin typeface="Calibri" panose="020F0502020204030204" pitchFamily="34" charset="0"/>
                <a:ea typeface="Calibri" panose="020F0502020204030204" pitchFamily="34" charset="0"/>
                <a:cs typeface="Calibri" panose="020F0502020204030204" pitchFamily="34" charset="0"/>
              </a:rPr>
              <a:t>Write a query to select all departments where the </a:t>
            </a:r>
            <a:r>
              <a:rPr lang="en-US" sz="2000" b="1" dirty="0" err="1">
                <a:latin typeface="Calibri" panose="020F0502020204030204" pitchFamily="34" charset="0"/>
                <a:ea typeface="Calibri" panose="020F0502020204030204" pitchFamily="34" charset="0"/>
                <a:cs typeface="Calibri" panose="020F0502020204030204" pitchFamily="34" charset="0"/>
              </a:rPr>
              <a:t>DepartmentName</a:t>
            </a:r>
            <a:r>
              <a:rPr lang="en-US" sz="2000" b="1" dirty="0">
                <a:latin typeface="Calibri" panose="020F0502020204030204" pitchFamily="34" charset="0"/>
                <a:ea typeface="Calibri" panose="020F0502020204030204" pitchFamily="34" charset="0"/>
                <a:cs typeface="Calibri" panose="020F0502020204030204" pitchFamily="34" charset="0"/>
              </a:rPr>
              <a:t> contains 'Sales'.</a:t>
            </a:r>
          </a:p>
        </p:txBody>
      </p:sp>
      <p:sp>
        <p:nvSpPr>
          <p:cNvPr id="6" name="TextBox 5">
            <a:extLst>
              <a:ext uri="{FF2B5EF4-FFF2-40B4-BE49-F238E27FC236}">
                <a16:creationId xmlns:a16="http://schemas.microsoft.com/office/drawing/2014/main" id="{0D851679-720D-7807-B8CC-6F590EB6887F}"/>
              </a:ext>
            </a:extLst>
          </p:cNvPr>
          <p:cNvSpPr txBox="1"/>
          <p:nvPr/>
        </p:nvSpPr>
        <p:spPr>
          <a:xfrm>
            <a:off x="416551" y="1223565"/>
            <a:ext cx="186943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Question 5-</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881B87DA-8ED3-6271-D2A7-40CD7BCFDDFA}"/>
              </a:ext>
            </a:extLst>
          </p:cNvPr>
          <p:cNvSpPr txBox="1"/>
          <p:nvPr/>
        </p:nvSpPr>
        <p:spPr>
          <a:xfrm>
            <a:off x="426714" y="2067023"/>
            <a:ext cx="1219198"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Query -</a:t>
            </a:r>
            <a:endParaRPr lang="en-US" dirty="0"/>
          </a:p>
        </p:txBody>
      </p:sp>
      <p:sp>
        <p:nvSpPr>
          <p:cNvPr id="11" name="TextBox 10">
            <a:extLst>
              <a:ext uri="{FF2B5EF4-FFF2-40B4-BE49-F238E27FC236}">
                <a16:creationId xmlns:a16="http://schemas.microsoft.com/office/drawing/2014/main" id="{0A33D8E6-2CA5-6E9B-FE36-4AAE4F0F93EE}"/>
              </a:ext>
            </a:extLst>
          </p:cNvPr>
          <p:cNvSpPr txBox="1"/>
          <p:nvPr/>
        </p:nvSpPr>
        <p:spPr>
          <a:xfrm>
            <a:off x="426714" y="3132493"/>
            <a:ext cx="138176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Output -</a:t>
            </a:r>
            <a:endParaRPr lang="en-US" dirty="0"/>
          </a:p>
        </p:txBody>
      </p:sp>
      <p:sp>
        <p:nvSpPr>
          <p:cNvPr id="13" name="TextBox 12">
            <a:extLst>
              <a:ext uri="{FF2B5EF4-FFF2-40B4-BE49-F238E27FC236}">
                <a16:creationId xmlns:a16="http://schemas.microsoft.com/office/drawing/2014/main" id="{F0DB4818-29D6-3E5E-C4D8-5DBB1E86E7FE}"/>
              </a:ext>
            </a:extLst>
          </p:cNvPr>
          <p:cNvSpPr txBox="1"/>
          <p:nvPr/>
        </p:nvSpPr>
        <p:spPr>
          <a:xfrm>
            <a:off x="416551" y="4704080"/>
            <a:ext cx="1584961"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Analysis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1D287B9F-495E-4C8F-6F8F-8B834AF46910}"/>
              </a:ext>
            </a:extLst>
          </p:cNvPr>
          <p:cNvSpPr txBox="1"/>
          <p:nvPr/>
        </p:nvSpPr>
        <p:spPr>
          <a:xfrm>
            <a:off x="504871" y="5280141"/>
            <a:ext cx="9983378" cy="1000274"/>
          </a:xfrm>
          <a:prstGeom prst="rect">
            <a:avLst/>
          </a:prstGeom>
          <a:solidFill>
            <a:schemeClr val="accent2">
              <a:lumMod val="40000"/>
              <a:lumOff val="60000"/>
            </a:schemeClr>
          </a:solidFill>
        </p:spPr>
        <p:txBody>
          <a:bodyPr wrap="square" rtlCol="0">
            <a:spAutoFit/>
          </a:bodyPr>
          <a:lstStyle/>
          <a:p>
            <a:r>
              <a:rPr lang="en-IN" sz="2000" b="1" dirty="0">
                <a:solidFill>
                  <a:schemeClr val="bg1"/>
                </a:solidFill>
                <a:latin typeface="Times New Roman" panose="02020603050405020304" pitchFamily="18" charset="0"/>
                <a:cs typeface="Times New Roman" panose="02020603050405020304" pitchFamily="18" charset="0"/>
              </a:rPr>
              <a:t>• The query retrieves departments whose </a:t>
            </a:r>
            <a:r>
              <a:rPr lang="en-IN" sz="2000" b="1" dirty="0" err="1">
                <a:solidFill>
                  <a:schemeClr val="bg1"/>
                </a:solidFill>
                <a:latin typeface="Times New Roman" panose="02020603050405020304" pitchFamily="18" charset="0"/>
                <a:cs typeface="Times New Roman" panose="02020603050405020304" pitchFamily="18" charset="0"/>
              </a:rPr>
              <a:t>DepartmentName</a:t>
            </a:r>
            <a:r>
              <a:rPr lang="en-IN" sz="2000" b="1" dirty="0">
                <a:solidFill>
                  <a:schemeClr val="bg1"/>
                </a:solidFill>
                <a:latin typeface="Times New Roman" panose="02020603050405020304" pitchFamily="18" charset="0"/>
                <a:cs typeface="Times New Roman" panose="02020603050405020304" pitchFamily="18" charset="0"/>
              </a:rPr>
              <a:t> contains the word “Sales”.</a:t>
            </a:r>
          </a:p>
          <a:p>
            <a:r>
              <a:rPr lang="en-IN" sz="2000" b="1" dirty="0">
                <a:solidFill>
                  <a:schemeClr val="bg1"/>
                </a:solidFill>
                <a:latin typeface="Times New Roman" panose="02020603050405020304" pitchFamily="18" charset="0"/>
                <a:cs typeface="Times New Roman" panose="02020603050405020304" pitchFamily="18" charset="0"/>
              </a:rPr>
              <a:t>• It helps to identify departments related to Sales from the department records.</a:t>
            </a:r>
          </a:p>
          <a:p>
            <a:endParaRPr lang="en-IN" sz="1900" b="1"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FB1F8683-5DE3-DE64-ADDA-85DF76E4DF9F}"/>
              </a:ext>
            </a:extLst>
          </p:cNvPr>
          <p:cNvPicPr>
            <a:picLocks noChangeAspect="1"/>
          </p:cNvPicPr>
          <p:nvPr/>
        </p:nvPicPr>
        <p:blipFill>
          <a:blip r:embed="rId3"/>
          <a:srcRect/>
          <a:stretch/>
        </p:blipFill>
        <p:spPr>
          <a:xfrm>
            <a:off x="2285986" y="3188937"/>
            <a:ext cx="5171454" cy="1744811"/>
          </a:xfrm>
          <a:prstGeom prst="rect">
            <a:avLst/>
          </a:prstGeom>
        </p:spPr>
      </p:pic>
      <p:pic>
        <p:nvPicPr>
          <p:cNvPr id="5" name="Picture 4">
            <a:extLst>
              <a:ext uri="{FF2B5EF4-FFF2-40B4-BE49-F238E27FC236}">
                <a16:creationId xmlns:a16="http://schemas.microsoft.com/office/drawing/2014/main" id="{DE215816-7E85-33F9-82DD-65CE6922A54D}"/>
              </a:ext>
            </a:extLst>
          </p:cNvPr>
          <p:cNvPicPr>
            <a:picLocks noChangeAspect="1"/>
          </p:cNvPicPr>
          <p:nvPr/>
        </p:nvPicPr>
        <p:blipFill>
          <a:blip r:embed="rId4"/>
          <a:srcRect/>
          <a:stretch/>
        </p:blipFill>
        <p:spPr>
          <a:xfrm>
            <a:off x="2285986" y="1962886"/>
            <a:ext cx="3992894" cy="910432"/>
          </a:xfrm>
          <a:prstGeom prst="rect">
            <a:avLst/>
          </a:prstGeom>
        </p:spPr>
      </p:pic>
    </p:spTree>
    <p:extLst>
      <p:ext uri="{BB962C8B-B14F-4D97-AF65-F5344CB8AC3E}">
        <p14:creationId xmlns:p14="http://schemas.microsoft.com/office/powerpoint/2010/main" val="4181863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16D29-0A4E-90BA-83CB-AD460225E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B3BFAD-9DF3-0B0C-2508-2513742517DE}"/>
              </a:ext>
            </a:extLst>
          </p:cNvPr>
          <p:cNvSpPr>
            <a:spLocks noGrp="1"/>
          </p:cNvSpPr>
          <p:nvPr>
            <p:ph type="title"/>
          </p:nvPr>
        </p:nvSpPr>
        <p:spPr>
          <a:xfrm>
            <a:off x="2752199" y="226848"/>
            <a:ext cx="5964382" cy="643109"/>
          </a:xfrm>
          <a:solidFill>
            <a:schemeClr val="bg1">
              <a:lumMod val="50000"/>
              <a:lumOff val="50000"/>
            </a:schemeClr>
          </a:solidFill>
          <a:ln>
            <a:solidFill>
              <a:schemeClr val="bg1"/>
            </a:solidFill>
          </a:ln>
          <a:effectLst>
            <a:outerShdw blurRad="50800" dist="38100" dir="2700000" algn="tl" rotWithShape="0">
              <a:prstClr val="black">
                <a:alpha val="40000"/>
              </a:prstClr>
            </a:outerShdw>
          </a:effectLst>
        </p:spPr>
        <p:txBody>
          <a:bodyPr/>
          <a:lstStyle/>
          <a:p>
            <a:pPr algn="ctr"/>
            <a:r>
              <a:rPr lang="en-IN" sz="3200" b="1" u="sng" dirty="0"/>
              <a:t>Data Retrieval Queries</a:t>
            </a:r>
            <a:endParaRPr lang="ru-RU" sz="3200" b="1" u="sng" dirty="0"/>
          </a:p>
        </p:txBody>
      </p:sp>
      <p:sp>
        <p:nvSpPr>
          <p:cNvPr id="4" name="TextBox 3">
            <a:extLst>
              <a:ext uri="{FF2B5EF4-FFF2-40B4-BE49-F238E27FC236}">
                <a16:creationId xmlns:a16="http://schemas.microsoft.com/office/drawing/2014/main" id="{2FC70306-5DDA-9689-44D5-5F6BCF0E0F21}"/>
              </a:ext>
            </a:extLst>
          </p:cNvPr>
          <p:cNvSpPr txBox="1"/>
          <p:nvPr/>
        </p:nvSpPr>
        <p:spPr>
          <a:xfrm>
            <a:off x="2285986" y="782858"/>
            <a:ext cx="8778254" cy="1077218"/>
          </a:xfrm>
          <a:prstGeom prst="rect">
            <a:avLst/>
          </a:prstGeom>
          <a:noFill/>
          <a:ln>
            <a:noFill/>
          </a:ln>
          <a:effectLst>
            <a:outerShdw blurRad="50800" dist="38100" dir="5400000" algn="t" rotWithShape="0">
              <a:prstClr val="black">
                <a:alpha val="40000"/>
              </a:prstClr>
            </a:outerShdw>
          </a:effectLst>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 Case Statement</a:t>
            </a:r>
          </a:p>
          <a:p>
            <a:r>
              <a:rPr lang="en-US" sz="1600" b="1" dirty="0">
                <a:latin typeface="Calibri" panose="020F0502020204030204" pitchFamily="34" charset="0"/>
                <a:ea typeface="Calibri" panose="020F0502020204030204" pitchFamily="34" charset="0"/>
                <a:cs typeface="Calibri" panose="020F0502020204030204" pitchFamily="34" charset="0"/>
              </a:rPr>
              <a:t>Write a query to select </a:t>
            </a:r>
            <a:r>
              <a:rPr lang="en-US" sz="1600" b="1" dirty="0" err="1">
                <a:latin typeface="Calibri" panose="020F0502020204030204" pitchFamily="34" charset="0"/>
                <a:ea typeface="Calibri" panose="020F0502020204030204" pitchFamily="34" charset="0"/>
                <a:cs typeface="Calibri" panose="020F0502020204030204" pitchFamily="34" charset="0"/>
              </a:rPr>
              <a:t>CheckInTime</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CheckOutTime</a:t>
            </a:r>
            <a:r>
              <a:rPr lang="en-US" sz="1600" b="1" dirty="0">
                <a:latin typeface="Calibri" panose="020F0502020204030204" pitchFamily="34" charset="0"/>
                <a:ea typeface="Calibri" panose="020F0502020204030204" pitchFamily="34" charset="0"/>
                <a:cs typeface="Calibri" panose="020F0502020204030204" pitchFamily="34" charset="0"/>
              </a:rPr>
              <a:t>, and a new column </a:t>
            </a:r>
            <a:r>
              <a:rPr lang="en-US" sz="1600" b="1" dirty="0" err="1">
                <a:latin typeface="Calibri" panose="020F0502020204030204" pitchFamily="34" charset="0"/>
                <a:ea typeface="Calibri" panose="020F0502020204030204" pitchFamily="34" charset="0"/>
                <a:cs typeface="Calibri" panose="020F0502020204030204" pitchFamily="34" charset="0"/>
              </a:rPr>
              <a:t>AttendanceDuration</a:t>
            </a:r>
            <a:r>
              <a:rPr lang="en-US" sz="1600" b="1" dirty="0">
                <a:latin typeface="Calibri" panose="020F0502020204030204" pitchFamily="34" charset="0"/>
                <a:ea typeface="Calibri" panose="020F0502020204030204" pitchFamily="34" charset="0"/>
                <a:cs typeface="Calibri" panose="020F0502020204030204" pitchFamily="34" charset="0"/>
              </a:rPr>
              <a:t> from the Attendance table. -- Calculate </a:t>
            </a:r>
            <a:r>
              <a:rPr lang="en-US" sz="1600" b="1" dirty="0" err="1">
                <a:latin typeface="Calibri" panose="020F0502020204030204" pitchFamily="34" charset="0"/>
                <a:ea typeface="Calibri" panose="020F0502020204030204" pitchFamily="34" charset="0"/>
                <a:cs typeface="Calibri" panose="020F0502020204030204" pitchFamily="34" charset="0"/>
              </a:rPr>
              <a:t>AttendanceDuration</a:t>
            </a:r>
            <a:r>
              <a:rPr lang="en-US" sz="1600" b="1" dirty="0">
                <a:latin typeface="Calibri" panose="020F0502020204030204" pitchFamily="34" charset="0"/>
                <a:ea typeface="Calibri" panose="020F0502020204030204" pitchFamily="34" charset="0"/>
                <a:cs typeface="Calibri" panose="020F0502020204030204" pitchFamily="34" charset="0"/>
              </a:rPr>
              <a:t> as the difference between </a:t>
            </a:r>
            <a:r>
              <a:rPr lang="en-US" sz="1600" b="1" dirty="0" err="1">
                <a:latin typeface="Calibri" panose="020F0502020204030204" pitchFamily="34" charset="0"/>
                <a:ea typeface="Calibri" panose="020F0502020204030204" pitchFamily="34" charset="0"/>
                <a:cs typeface="Calibri" panose="020F0502020204030204" pitchFamily="34" charset="0"/>
              </a:rPr>
              <a:t>CheckOutTime</a:t>
            </a:r>
            <a:r>
              <a:rPr lang="en-US" sz="1600" b="1" dirty="0">
                <a:latin typeface="Calibri" panose="020F0502020204030204" pitchFamily="34" charset="0"/>
                <a:ea typeface="Calibri" panose="020F0502020204030204" pitchFamily="34" charset="0"/>
                <a:cs typeface="Calibri" panose="020F0502020204030204" pitchFamily="34" charset="0"/>
              </a:rPr>
              <a:t> and </a:t>
            </a:r>
            <a:r>
              <a:rPr lang="en-US" sz="1600" b="1" dirty="0" err="1">
                <a:latin typeface="Calibri" panose="020F0502020204030204" pitchFamily="34" charset="0"/>
                <a:ea typeface="Calibri" panose="020F0502020204030204" pitchFamily="34" charset="0"/>
                <a:cs typeface="Calibri" panose="020F0502020204030204" pitchFamily="34" charset="0"/>
              </a:rPr>
              <a:t>CheckInTime</a:t>
            </a:r>
            <a:r>
              <a:rPr lang="en-US" sz="1600" b="1" dirty="0">
                <a:latin typeface="Calibri" panose="020F0502020204030204" pitchFamily="34" charset="0"/>
                <a:ea typeface="Calibri" panose="020F0502020204030204" pitchFamily="34" charset="0"/>
                <a:cs typeface="Calibri" panose="020F0502020204030204" pitchFamily="34" charset="0"/>
              </a:rPr>
              <a:t>.</a:t>
            </a:r>
          </a:p>
        </p:txBody>
      </p:sp>
      <p:sp>
        <p:nvSpPr>
          <p:cNvPr id="6" name="TextBox 5">
            <a:extLst>
              <a:ext uri="{FF2B5EF4-FFF2-40B4-BE49-F238E27FC236}">
                <a16:creationId xmlns:a16="http://schemas.microsoft.com/office/drawing/2014/main" id="{83F96ADB-E8F1-BF8C-EF1B-A34C041C2CA6}"/>
              </a:ext>
            </a:extLst>
          </p:cNvPr>
          <p:cNvSpPr txBox="1"/>
          <p:nvPr/>
        </p:nvSpPr>
        <p:spPr>
          <a:xfrm>
            <a:off x="416551" y="1223565"/>
            <a:ext cx="186943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Question 6 -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878D73C2-12A0-3F31-B4BE-C3F81D5425D6}"/>
              </a:ext>
            </a:extLst>
          </p:cNvPr>
          <p:cNvSpPr txBox="1"/>
          <p:nvPr/>
        </p:nvSpPr>
        <p:spPr>
          <a:xfrm>
            <a:off x="426714" y="1860076"/>
            <a:ext cx="1219198"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Query -</a:t>
            </a:r>
            <a:endParaRPr lang="en-US" dirty="0"/>
          </a:p>
        </p:txBody>
      </p:sp>
      <p:sp>
        <p:nvSpPr>
          <p:cNvPr id="11" name="TextBox 10">
            <a:extLst>
              <a:ext uri="{FF2B5EF4-FFF2-40B4-BE49-F238E27FC236}">
                <a16:creationId xmlns:a16="http://schemas.microsoft.com/office/drawing/2014/main" id="{47FD2D0E-93BD-20CF-A449-0C8CE3E269C0}"/>
              </a:ext>
            </a:extLst>
          </p:cNvPr>
          <p:cNvSpPr txBox="1"/>
          <p:nvPr/>
        </p:nvSpPr>
        <p:spPr>
          <a:xfrm>
            <a:off x="426714" y="3429000"/>
            <a:ext cx="138176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Output -</a:t>
            </a:r>
            <a:endParaRPr lang="en-US" dirty="0"/>
          </a:p>
        </p:txBody>
      </p:sp>
      <p:sp>
        <p:nvSpPr>
          <p:cNvPr id="13" name="TextBox 12">
            <a:extLst>
              <a:ext uri="{FF2B5EF4-FFF2-40B4-BE49-F238E27FC236}">
                <a16:creationId xmlns:a16="http://schemas.microsoft.com/office/drawing/2014/main" id="{EE441E51-B738-FEBA-483B-EF76EB348564}"/>
              </a:ext>
            </a:extLst>
          </p:cNvPr>
          <p:cNvSpPr txBox="1"/>
          <p:nvPr/>
        </p:nvSpPr>
        <p:spPr>
          <a:xfrm>
            <a:off x="416551" y="5232119"/>
            <a:ext cx="1584961"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Analysis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5E29E26F-7CF2-AF7F-9064-C82A0CF8DE6B}"/>
              </a:ext>
            </a:extLst>
          </p:cNvPr>
          <p:cNvSpPr txBox="1"/>
          <p:nvPr/>
        </p:nvSpPr>
        <p:spPr>
          <a:xfrm>
            <a:off x="504871" y="5742897"/>
            <a:ext cx="9983378" cy="830997"/>
          </a:xfrm>
          <a:prstGeom prst="rect">
            <a:avLst/>
          </a:prstGeom>
          <a:solidFill>
            <a:schemeClr val="accent2">
              <a:lumMod val="40000"/>
              <a:lumOff val="60000"/>
            </a:schemeClr>
          </a:solidFill>
        </p:spPr>
        <p:txBody>
          <a:bodyPr wrap="square" rtlCol="0">
            <a:spAutoFit/>
          </a:bodyPr>
          <a:lstStyle/>
          <a:p>
            <a:pPr marL="342900" lvl="0" indent="-342900">
              <a:buFont typeface="Arial" panose="020B0604020202020204" pitchFamily="34" charset="0"/>
              <a:buChar char="•"/>
            </a:pPr>
            <a:r>
              <a:rPr lang="en-IN" sz="1600" b="1" dirty="0">
                <a:solidFill>
                  <a:schemeClr val="bg1"/>
                </a:solidFill>
                <a:latin typeface="Times New Roman" panose="02020603050405020304" pitchFamily="18" charset="0"/>
                <a:cs typeface="Times New Roman" panose="02020603050405020304" pitchFamily="18" charset="0"/>
              </a:rPr>
              <a:t>The query calculates </a:t>
            </a:r>
            <a:r>
              <a:rPr lang="en-IN" sz="1600" b="1" dirty="0" err="1">
                <a:solidFill>
                  <a:schemeClr val="bg1"/>
                </a:solidFill>
                <a:latin typeface="Times New Roman" panose="02020603050405020304" pitchFamily="18" charset="0"/>
                <a:cs typeface="Times New Roman" panose="02020603050405020304" pitchFamily="18" charset="0"/>
              </a:rPr>
              <a:t>AttendanceDuration</a:t>
            </a:r>
            <a:r>
              <a:rPr lang="en-IN" sz="1600" b="1" dirty="0">
                <a:solidFill>
                  <a:schemeClr val="bg1"/>
                </a:solidFill>
                <a:latin typeface="Times New Roman" panose="02020603050405020304" pitchFamily="18" charset="0"/>
                <a:cs typeface="Times New Roman" panose="02020603050405020304" pitchFamily="18" charset="0"/>
              </a:rPr>
              <a:t> as the difference between </a:t>
            </a:r>
            <a:r>
              <a:rPr lang="en-IN" sz="1600" b="1" dirty="0" err="1">
                <a:solidFill>
                  <a:schemeClr val="bg1"/>
                </a:solidFill>
                <a:latin typeface="Times New Roman" panose="02020603050405020304" pitchFamily="18" charset="0"/>
                <a:cs typeface="Times New Roman" panose="02020603050405020304" pitchFamily="18" charset="0"/>
              </a:rPr>
              <a:t>CheckInTime</a:t>
            </a:r>
            <a:r>
              <a:rPr lang="en-IN" sz="1600" b="1" dirty="0">
                <a:solidFill>
                  <a:schemeClr val="bg1"/>
                </a:solidFill>
                <a:latin typeface="Times New Roman" panose="02020603050405020304" pitchFamily="18" charset="0"/>
                <a:cs typeface="Times New Roman" panose="02020603050405020304" pitchFamily="18" charset="0"/>
              </a:rPr>
              <a:t> and </a:t>
            </a:r>
            <a:r>
              <a:rPr lang="en-IN" sz="1600" b="1" dirty="0" err="1">
                <a:solidFill>
                  <a:schemeClr val="bg1"/>
                </a:solidFill>
                <a:latin typeface="Times New Roman" panose="02020603050405020304" pitchFamily="18" charset="0"/>
                <a:cs typeface="Times New Roman" panose="02020603050405020304" pitchFamily="18" charset="0"/>
              </a:rPr>
              <a:t>CheckOutTime</a:t>
            </a:r>
            <a:r>
              <a:rPr lang="en-IN" sz="1600" b="1" dirty="0">
                <a:solidFill>
                  <a:schemeClr val="bg1"/>
                </a:solidFill>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sz="1600" b="1" dirty="0">
                <a:solidFill>
                  <a:schemeClr val="bg1"/>
                </a:solidFill>
                <a:latin typeface="Times New Roman" panose="02020603050405020304" pitchFamily="18" charset="0"/>
                <a:cs typeface="Times New Roman" panose="02020603050405020304" pitchFamily="18" charset="0"/>
              </a:rPr>
              <a:t>It helps </a:t>
            </a:r>
            <a:r>
              <a:rPr lang="en-IN" sz="1600" b="1" dirty="0" err="1">
                <a:solidFill>
                  <a:schemeClr val="bg1"/>
                </a:solidFill>
                <a:latin typeface="Times New Roman" panose="02020603050405020304" pitchFamily="18" charset="0"/>
                <a:cs typeface="Times New Roman" panose="02020603050405020304" pitchFamily="18" charset="0"/>
              </a:rPr>
              <a:t>analyze</a:t>
            </a:r>
            <a:r>
              <a:rPr lang="en-IN" sz="1600" b="1" dirty="0">
                <a:solidFill>
                  <a:schemeClr val="bg1"/>
                </a:solidFill>
                <a:latin typeface="Times New Roman" panose="02020603050405020304" pitchFamily="18" charset="0"/>
                <a:cs typeface="Times New Roman" panose="02020603050405020304" pitchFamily="18" charset="0"/>
              </a:rPr>
              <a:t> the number of hours employees spend at work.</a:t>
            </a:r>
          </a:p>
          <a:p>
            <a:pPr marL="342900" indent="-342900">
              <a:buFont typeface="Arial" panose="020B0604020202020204" pitchFamily="34" charset="0"/>
              <a:buChar char="•"/>
            </a:pPr>
            <a:endParaRPr lang="en-IN" sz="1600" b="1"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C51BBDB0-41A3-92F8-6E71-A2B4310F50FE}"/>
              </a:ext>
            </a:extLst>
          </p:cNvPr>
          <p:cNvPicPr>
            <a:picLocks noChangeAspect="1"/>
          </p:cNvPicPr>
          <p:nvPr/>
        </p:nvPicPr>
        <p:blipFill>
          <a:blip r:embed="rId3"/>
          <a:srcRect/>
          <a:stretch/>
        </p:blipFill>
        <p:spPr>
          <a:xfrm>
            <a:off x="2285986" y="3527850"/>
            <a:ext cx="5232414" cy="2106585"/>
          </a:xfrm>
          <a:prstGeom prst="rect">
            <a:avLst/>
          </a:prstGeom>
        </p:spPr>
      </p:pic>
      <p:pic>
        <p:nvPicPr>
          <p:cNvPr id="5" name="Picture 4">
            <a:extLst>
              <a:ext uri="{FF2B5EF4-FFF2-40B4-BE49-F238E27FC236}">
                <a16:creationId xmlns:a16="http://schemas.microsoft.com/office/drawing/2014/main" id="{AF739D61-B850-492C-11D8-78F7198E32F6}"/>
              </a:ext>
            </a:extLst>
          </p:cNvPr>
          <p:cNvPicPr>
            <a:picLocks noChangeAspect="1"/>
          </p:cNvPicPr>
          <p:nvPr/>
        </p:nvPicPr>
        <p:blipFill>
          <a:blip r:embed="rId4"/>
          <a:srcRect/>
          <a:stretch/>
        </p:blipFill>
        <p:spPr>
          <a:xfrm>
            <a:off x="2285986" y="1909052"/>
            <a:ext cx="4470414" cy="1493065"/>
          </a:xfrm>
          <a:prstGeom prst="rect">
            <a:avLst/>
          </a:prstGeom>
        </p:spPr>
      </p:pic>
    </p:spTree>
    <p:extLst>
      <p:ext uri="{BB962C8B-B14F-4D97-AF65-F5344CB8AC3E}">
        <p14:creationId xmlns:p14="http://schemas.microsoft.com/office/powerpoint/2010/main" val="411918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29737-2D9E-D002-8750-DD6B373EEA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EC229-D9F5-2A25-2767-EA1F6E5E62C1}"/>
              </a:ext>
            </a:extLst>
          </p:cNvPr>
          <p:cNvSpPr>
            <a:spLocks noGrp="1"/>
          </p:cNvSpPr>
          <p:nvPr>
            <p:ph type="title"/>
          </p:nvPr>
        </p:nvSpPr>
        <p:spPr>
          <a:xfrm>
            <a:off x="2752199" y="226848"/>
            <a:ext cx="5964382" cy="643109"/>
          </a:xfrm>
          <a:solidFill>
            <a:schemeClr val="bg1">
              <a:lumMod val="50000"/>
              <a:lumOff val="50000"/>
            </a:schemeClr>
          </a:solidFill>
          <a:ln>
            <a:solidFill>
              <a:schemeClr val="bg1"/>
            </a:solidFill>
          </a:ln>
          <a:effectLst>
            <a:outerShdw blurRad="50800" dist="38100" dir="2700000" algn="tl" rotWithShape="0">
              <a:prstClr val="black">
                <a:alpha val="40000"/>
              </a:prstClr>
            </a:outerShdw>
          </a:effectLst>
        </p:spPr>
        <p:txBody>
          <a:bodyPr/>
          <a:lstStyle/>
          <a:p>
            <a:pPr algn="ctr"/>
            <a:r>
              <a:rPr lang="en-IN" sz="3200" b="1" u="sng" dirty="0"/>
              <a:t>Data Retrieval Queries</a:t>
            </a:r>
            <a:endParaRPr lang="ru-RU" sz="3200" b="1" u="sng" dirty="0"/>
          </a:p>
        </p:txBody>
      </p:sp>
      <p:sp>
        <p:nvSpPr>
          <p:cNvPr id="4" name="TextBox 3">
            <a:extLst>
              <a:ext uri="{FF2B5EF4-FFF2-40B4-BE49-F238E27FC236}">
                <a16:creationId xmlns:a16="http://schemas.microsoft.com/office/drawing/2014/main" id="{EA9EA08E-8522-FC6A-4F69-D90141889033}"/>
              </a:ext>
            </a:extLst>
          </p:cNvPr>
          <p:cNvSpPr txBox="1"/>
          <p:nvPr/>
        </p:nvSpPr>
        <p:spPr>
          <a:xfrm>
            <a:off x="2285986" y="908590"/>
            <a:ext cx="8778254" cy="1015663"/>
          </a:xfrm>
          <a:prstGeom prst="rect">
            <a:avLst/>
          </a:prstGeom>
          <a:noFill/>
          <a:ln>
            <a:noFill/>
          </a:ln>
          <a:effectLst>
            <a:outerShdw blurRad="50800" dist="38100" dir="5400000" algn="t" rotWithShape="0">
              <a:prstClr val="black">
                <a:alpha val="40000"/>
              </a:prstClr>
            </a:outerShdw>
          </a:effectLst>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 SUBQUERY</a:t>
            </a:r>
          </a:p>
          <a:p>
            <a:r>
              <a:rPr lang="en-US" sz="2000" b="1" dirty="0">
                <a:latin typeface="Calibri" panose="020F0502020204030204" pitchFamily="34" charset="0"/>
                <a:ea typeface="Calibri" panose="020F0502020204030204" pitchFamily="34" charset="0"/>
                <a:cs typeface="Calibri" panose="020F0502020204030204" pitchFamily="34" charset="0"/>
              </a:rPr>
              <a:t>Write a query to find all employees who have at least one 'Approved' leave request. Use a subquery in the WHERE clause to find these </a:t>
            </a:r>
            <a:r>
              <a:rPr lang="en-US" sz="2000" b="1" dirty="0" err="1">
                <a:latin typeface="Calibri" panose="020F0502020204030204" pitchFamily="34" charset="0"/>
                <a:ea typeface="Calibri" panose="020F0502020204030204" pitchFamily="34" charset="0"/>
                <a:cs typeface="Calibri" panose="020F0502020204030204" pitchFamily="34" charset="0"/>
              </a:rPr>
              <a:t>EmployeeIDs</a:t>
            </a:r>
            <a:r>
              <a:rPr lang="en-US" sz="2000" b="1" dirty="0">
                <a:latin typeface="Calibri" panose="020F0502020204030204" pitchFamily="34" charset="0"/>
                <a:ea typeface="Calibri" panose="020F0502020204030204" pitchFamily="34" charset="0"/>
                <a:cs typeface="Calibri" panose="020F0502020204030204" pitchFamily="34" charset="0"/>
              </a:rPr>
              <a:t>.</a:t>
            </a:r>
          </a:p>
        </p:txBody>
      </p:sp>
      <p:sp>
        <p:nvSpPr>
          <p:cNvPr id="6" name="TextBox 5">
            <a:extLst>
              <a:ext uri="{FF2B5EF4-FFF2-40B4-BE49-F238E27FC236}">
                <a16:creationId xmlns:a16="http://schemas.microsoft.com/office/drawing/2014/main" id="{7A326F9E-6B2C-BBEF-0F5A-3FE8F8E4E239}"/>
              </a:ext>
            </a:extLst>
          </p:cNvPr>
          <p:cNvSpPr txBox="1"/>
          <p:nvPr/>
        </p:nvSpPr>
        <p:spPr>
          <a:xfrm>
            <a:off x="416551" y="1223565"/>
            <a:ext cx="186943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Question 7-</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7C655F0-C46C-9AC2-D29F-6C8888263239}"/>
              </a:ext>
            </a:extLst>
          </p:cNvPr>
          <p:cNvSpPr txBox="1"/>
          <p:nvPr/>
        </p:nvSpPr>
        <p:spPr>
          <a:xfrm>
            <a:off x="426714" y="2067023"/>
            <a:ext cx="1219198"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Query -</a:t>
            </a:r>
            <a:endParaRPr lang="en-US" dirty="0"/>
          </a:p>
        </p:txBody>
      </p:sp>
      <p:sp>
        <p:nvSpPr>
          <p:cNvPr id="11" name="TextBox 10">
            <a:extLst>
              <a:ext uri="{FF2B5EF4-FFF2-40B4-BE49-F238E27FC236}">
                <a16:creationId xmlns:a16="http://schemas.microsoft.com/office/drawing/2014/main" id="{47D89701-4A4C-2387-7A8A-E7E069865211}"/>
              </a:ext>
            </a:extLst>
          </p:cNvPr>
          <p:cNvSpPr txBox="1"/>
          <p:nvPr/>
        </p:nvSpPr>
        <p:spPr>
          <a:xfrm>
            <a:off x="464215" y="3429000"/>
            <a:ext cx="138176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Output -</a:t>
            </a:r>
            <a:endParaRPr lang="en-US" dirty="0"/>
          </a:p>
        </p:txBody>
      </p:sp>
      <p:sp>
        <p:nvSpPr>
          <p:cNvPr id="13" name="TextBox 12">
            <a:extLst>
              <a:ext uri="{FF2B5EF4-FFF2-40B4-BE49-F238E27FC236}">
                <a16:creationId xmlns:a16="http://schemas.microsoft.com/office/drawing/2014/main" id="{9EB77E21-9F57-0721-B047-6515F7538A6E}"/>
              </a:ext>
            </a:extLst>
          </p:cNvPr>
          <p:cNvSpPr txBox="1"/>
          <p:nvPr/>
        </p:nvSpPr>
        <p:spPr>
          <a:xfrm>
            <a:off x="426704" y="5286908"/>
            <a:ext cx="1584961"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Analysis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6EDA39FD-1EE2-6922-FC77-736FC34779EA}"/>
              </a:ext>
            </a:extLst>
          </p:cNvPr>
          <p:cNvSpPr txBox="1"/>
          <p:nvPr/>
        </p:nvSpPr>
        <p:spPr>
          <a:xfrm>
            <a:off x="504871" y="5742897"/>
            <a:ext cx="9983378" cy="1000274"/>
          </a:xfrm>
          <a:prstGeom prst="rect">
            <a:avLst/>
          </a:prstGeom>
          <a:solidFill>
            <a:schemeClr val="accent2">
              <a:lumMod val="40000"/>
              <a:lumOff val="60000"/>
            </a:schemeClr>
          </a:solidFill>
        </p:spPr>
        <p:txBody>
          <a:bodyPr wrap="square" rtlCol="0">
            <a:spAutoFit/>
          </a:bodyPr>
          <a:lstStyle/>
          <a:p>
            <a:pPr marL="342900" lvl="0" indent="-342900">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The query retrieves employees who have at least one approved leave request. </a:t>
            </a:r>
          </a:p>
          <a:p>
            <a:pPr marL="342900" lvl="0" indent="-342900">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It uses a subquery in the WHERE clause to find employees with </a:t>
            </a:r>
            <a:r>
              <a:rPr lang="en-IN" b="1" dirty="0">
                <a:solidFill>
                  <a:schemeClr val="bg1"/>
                </a:solidFill>
                <a:latin typeface="Times New Roman" panose="02020603050405020304" pitchFamily="18" charset="0"/>
                <a:cs typeface="Times New Roman" panose="02020603050405020304" pitchFamily="18" charset="0"/>
              </a:rPr>
              <a:t>Status = 'Approved'</a:t>
            </a:r>
            <a:r>
              <a:rPr lang="en-IN" sz="2000" b="1" dirty="0">
                <a:solidFill>
                  <a:schemeClr val="bg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IN" sz="1900" b="1"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A551D51B-9228-A042-E6B3-4E53D9027695}"/>
              </a:ext>
            </a:extLst>
          </p:cNvPr>
          <p:cNvPicPr>
            <a:picLocks noChangeAspect="1"/>
          </p:cNvPicPr>
          <p:nvPr/>
        </p:nvPicPr>
        <p:blipFill>
          <a:blip r:embed="rId3"/>
          <a:srcRect/>
          <a:stretch/>
        </p:blipFill>
        <p:spPr>
          <a:xfrm>
            <a:off x="2285986" y="3395302"/>
            <a:ext cx="5232414" cy="2061253"/>
          </a:xfrm>
          <a:prstGeom prst="rect">
            <a:avLst/>
          </a:prstGeom>
        </p:spPr>
      </p:pic>
      <p:pic>
        <p:nvPicPr>
          <p:cNvPr id="5" name="Picture 4">
            <a:extLst>
              <a:ext uri="{FF2B5EF4-FFF2-40B4-BE49-F238E27FC236}">
                <a16:creationId xmlns:a16="http://schemas.microsoft.com/office/drawing/2014/main" id="{F2973EA5-BF96-0153-D836-37B2661697D7}"/>
              </a:ext>
            </a:extLst>
          </p:cNvPr>
          <p:cNvPicPr>
            <a:picLocks noChangeAspect="1"/>
          </p:cNvPicPr>
          <p:nvPr/>
        </p:nvPicPr>
        <p:blipFill>
          <a:blip r:embed="rId4"/>
          <a:srcRect/>
          <a:stretch/>
        </p:blipFill>
        <p:spPr>
          <a:xfrm>
            <a:off x="2285986" y="1924253"/>
            <a:ext cx="2753374" cy="1330983"/>
          </a:xfrm>
          <a:prstGeom prst="rect">
            <a:avLst/>
          </a:prstGeom>
        </p:spPr>
      </p:pic>
    </p:spTree>
    <p:extLst>
      <p:ext uri="{BB962C8B-B14F-4D97-AF65-F5344CB8AC3E}">
        <p14:creationId xmlns:p14="http://schemas.microsoft.com/office/powerpoint/2010/main" val="90091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A8F1F-041B-86D4-E4B3-38DFD0827C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A7B5C-5D90-13F7-1DEF-2F84C574B897}"/>
              </a:ext>
            </a:extLst>
          </p:cNvPr>
          <p:cNvSpPr>
            <a:spLocks noGrp="1"/>
          </p:cNvSpPr>
          <p:nvPr>
            <p:ph type="title"/>
          </p:nvPr>
        </p:nvSpPr>
        <p:spPr>
          <a:xfrm>
            <a:off x="2752199" y="226848"/>
            <a:ext cx="5964382" cy="643109"/>
          </a:xfrm>
          <a:solidFill>
            <a:schemeClr val="bg1">
              <a:lumMod val="50000"/>
              <a:lumOff val="50000"/>
            </a:schemeClr>
          </a:solidFill>
          <a:ln>
            <a:solidFill>
              <a:schemeClr val="bg1"/>
            </a:solidFill>
          </a:ln>
          <a:effectLst>
            <a:outerShdw blurRad="50800" dist="38100" dir="2700000" algn="tl" rotWithShape="0">
              <a:prstClr val="black">
                <a:alpha val="40000"/>
              </a:prstClr>
            </a:outerShdw>
          </a:effectLst>
        </p:spPr>
        <p:txBody>
          <a:bodyPr/>
          <a:lstStyle/>
          <a:p>
            <a:pPr algn="ctr"/>
            <a:r>
              <a:rPr lang="en-IN" sz="3200" b="1" u="sng" dirty="0"/>
              <a:t>Data Retrieval Queries</a:t>
            </a:r>
            <a:endParaRPr lang="ru-RU" sz="3200" b="1" u="sng" dirty="0"/>
          </a:p>
        </p:txBody>
      </p:sp>
      <p:sp>
        <p:nvSpPr>
          <p:cNvPr id="4" name="TextBox 3">
            <a:extLst>
              <a:ext uri="{FF2B5EF4-FFF2-40B4-BE49-F238E27FC236}">
                <a16:creationId xmlns:a16="http://schemas.microsoft.com/office/drawing/2014/main" id="{CC7926FF-0139-7F57-F07B-47E9851FB383}"/>
              </a:ext>
            </a:extLst>
          </p:cNvPr>
          <p:cNvSpPr txBox="1"/>
          <p:nvPr/>
        </p:nvSpPr>
        <p:spPr>
          <a:xfrm>
            <a:off x="2285986" y="908590"/>
            <a:ext cx="8778254" cy="1015663"/>
          </a:xfrm>
          <a:prstGeom prst="rect">
            <a:avLst/>
          </a:prstGeom>
          <a:noFill/>
          <a:ln>
            <a:noFill/>
          </a:ln>
          <a:effectLst>
            <a:outerShdw blurRad="50800" dist="38100" dir="5400000" algn="t" rotWithShape="0">
              <a:prstClr val="black">
                <a:alpha val="40000"/>
              </a:prstClr>
            </a:outerShdw>
          </a:effectLst>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 GROUP BY</a:t>
            </a:r>
          </a:p>
          <a:p>
            <a:r>
              <a:rPr lang="en-US" sz="2000" b="1" dirty="0">
                <a:latin typeface="Calibri" panose="020F0502020204030204" pitchFamily="34" charset="0"/>
                <a:ea typeface="Calibri" panose="020F0502020204030204" pitchFamily="34" charset="0"/>
                <a:cs typeface="Calibri" panose="020F0502020204030204" pitchFamily="34" charset="0"/>
              </a:rPr>
              <a:t>Write a query to get the total number of days each employee was present in the current month. Group the results by </a:t>
            </a:r>
            <a:r>
              <a:rPr lang="en-US" sz="2000" b="1" dirty="0" err="1">
                <a:latin typeface="Calibri" panose="020F0502020204030204" pitchFamily="34" charset="0"/>
                <a:ea typeface="Calibri" panose="020F0502020204030204" pitchFamily="34" charset="0"/>
                <a:cs typeface="Calibri" panose="020F0502020204030204" pitchFamily="34" charset="0"/>
              </a:rPr>
              <a:t>EmployeeID</a:t>
            </a:r>
            <a:r>
              <a:rPr lang="en-US" sz="2000" b="1" dirty="0">
                <a:latin typeface="Calibri" panose="020F0502020204030204" pitchFamily="34" charset="0"/>
                <a:ea typeface="Calibri" panose="020F0502020204030204" pitchFamily="34" charset="0"/>
                <a:cs typeface="Calibri" panose="020F0502020204030204" pitchFamily="34" charset="0"/>
              </a:rPr>
              <a:t>.</a:t>
            </a:r>
          </a:p>
        </p:txBody>
      </p:sp>
      <p:sp>
        <p:nvSpPr>
          <p:cNvPr id="6" name="TextBox 5">
            <a:extLst>
              <a:ext uri="{FF2B5EF4-FFF2-40B4-BE49-F238E27FC236}">
                <a16:creationId xmlns:a16="http://schemas.microsoft.com/office/drawing/2014/main" id="{1512DC0F-9B7C-C520-3F56-0106B77BC81F}"/>
              </a:ext>
            </a:extLst>
          </p:cNvPr>
          <p:cNvSpPr txBox="1"/>
          <p:nvPr/>
        </p:nvSpPr>
        <p:spPr>
          <a:xfrm>
            <a:off x="416551" y="1223565"/>
            <a:ext cx="186943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Question 8 -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81B75E75-4FF7-6D19-8A0D-C75A385FC1AF}"/>
              </a:ext>
            </a:extLst>
          </p:cNvPr>
          <p:cNvSpPr txBox="1"/>
          <p:nvPr/>
        </p:nvSpPr>
        <p:spPr>
          <a:xfrm>
            <a:off x="426714" y="2067023"/>
            <a:ext cx="1219198"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Query -</a:t>
            </a:r>
            <a:endParaRPr lang="en-US" dirty="0"/>
          </a:p>
        </p:txBody>
      </p:sp>
      <p:sp>
        <p:nvSpPr>
          <p:cNvPr id="11" name="TextBox 10">
            <a:extLst>
              <a:ext uri="{FF2B5EF4-FFF2-40B4-BE49-F238E27FC236}">
                <a16:creationId xmlns:a16="http://schemas.microsoft.com/office/drawing/2014/main" id="{E2D61505-FCAE-5B06-25D2-326038007539}"/>
              </a:ext>
            </a:extLst>
          </p:cNvPr>
          <p:cNvSpPr txBox="1"/>
          <p:nvPr/>
        </p:nvSpPr>
        <p:spPr>
          <a:xfrm>
            <a:off x="518148" y="3525520"/>
            <a:ext cx="138176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Output -</a:t>
            </a:r>
            <a:endParaRPr lang="en-US" dirty="0"/>
          </a:p>
        </p:txBody>
      </p:sp>
      <p:sp>
        <p:nvSpPr>
          <p:cNvPr id="13" name="TextBox 12">
            <a:extLst>
              <a:ext uri="{FF2B5EF4-FFF2-40B4-BE49-F238E27FC236}">
                <a16:creationId xmlns:a16="http://schemas.microsoft.com/office/drawing/2014/main" id="{B06DA6D0-E7C0-F4DF-E8B6-77C5F2B936F3}"/>
              </a:ext>
            </a:extLst>
          </p:cNvPr>
          <p:cNvSpPr txBox="1"/>
          <p:nvPr/>
        </p:nvSpPr>
        <p:spPr>
          <a:xfrm>
            <a:off x="416551" y="5232119"/>
            <a:ext cx="1584961"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Analysis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2945A84C-671D-0135-BC07-C9B8099B3AEE}"/>
              </a:ext>
            </a:extLst>
          </p:cNvPr>
          <p:cNvSpPr txBox="1"/>
          <p:nvPr/>
        </p:nvSpPr>
        <p:spPr>
          <a:xfrm>
            <a:off x="504871" y="5742897"/>
            <a:ext cx="9983378" cy="923330"/>
          </a:xfrm>
          <a:prstGeom prst="rect">
            <a:avLst/>
          </a:prstGeom>
          <a:solidFill>
            <a:schemeClr val="accent2">
              <a:lumMod val="40000"/>
              <a:lumOff val="60000"/>
            </a:schemeClr>
          </a:solidFill>
        </p:spPr>
        <p:txBody>
          <a:bodyPr wrap="square" rtlCol="0">
            <a:spAutoFit/>
          </a:bodyPr>
          <a:lstStyle/>
          <a:p>
            <a:pPr marL="342900" lvl="0" indent="-342900">
              <a:buFont typeface="Arial" panose="020B0604020202020204" pitchFamily="34" charset="0"/>
              <a:buChar char="•"/>
            </a:pPr>
            <a:r>
              <a:rPr lang="en-IN" b="1" dirty="0">
                <a:solidFill>
                  <a:schemeClr val="bg1"/>
                </a:solidFill>
                <a:latin typeface="Times New Roman" panose="02020603050405020304" pitchFamily="18" charset="0"/>
                <a:cs typeface="Times New Roman" panose="02020603050405020304" pitchFamily="18" charset="0"/>
              </a:rPr>
              <a:t>The query calculates the total number of Present days for each employee in the current month. </a:t>
            </a:r>
          </a:p>
          <a:p>
            <a:pPr marL="342900" lvl="0" indent="-342900">
              <a:buFont typeface="Arial" panose="020B0604020202020204" pitchFamily="34" charset="0"/>
              <a:buChar char="•"/>
            </a:pPr>
            <a:r>
              <a:rPr lang="en-IN" b="1" dirty="0">
                <a:solidFill>
                  <a:schemeClr val="bg1"/>
                </a:solidFill>
                <a:latin typeface="Times New Roman" panose="02020603050405020304" pitchFamily="18" charset="0"/>
                <a:cs typeface="Times New Roman" panose="02020603050405020304" pitchFamily="18" charset="0"/>
              </a:rPr>
              <a:t>It uses GROUP BY </a:t>
            </a:r>
            <a:r>
              <a:rPr lang="en-IN" b="1" dirty="0" err="1">
                <a:solidFill>
                  <a:schemeClr val="bg1"/>
                </a:solidFill>
                <a:latin typeface="Times New Roman" panose="02020603050405020304" pitchFamily="18" charset="0"/>
                <a:cs typeface="Times New Roman" panose="02020603050405020304" pitchFamily="18" charset="0"/>
              </a:rPr>
              <a:t>EmployeeID</a:t>
            </a:r>
            <a:r>
              <a:rPr lang="en-IN" b="1" dirty="0">
                <a:solidFill>
                  <a:schemeClr val="bg1"/>
                </a:solidFill>
                <a:latin typeface="Times New Roman" panose="02020603050405020304" pitchFamily="18" charset="0"/>
                <a:cs typeface="Times New Roman" panose="02020603050405020304" pitchFamily="18" charset="0"/>
              </a:rPr>
              <a:t> to group attendance records employee-wise. </a:t>
            </a:r>
          </a:p>
          <a:p>
            <a:pPr marL="342900" indent="-342900">
              <a:buFont typeface="Arial" panose="020B0604020202020204" pitchFamily="34" charset="0"/>
              <a:buChar char="•"/>
            </a:pP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A183805F-102C-65A8-C5FB-15A4DF68A591}"/>
              </a:ext>
            </a:extLst>
          </p:cNvPr>
          <p:cNvPicPr>
            <a:picLocks noChangeAspect="1"/>
          </p:cNvPicPr>
          <p:nvPr/>
        </p:nvPicPr>
        <p:blipFill>
          <a:blip r:embed="rId3"/>
          <a:srcRect/>
          <a:stretch/>
        </p:blipFill>
        <p:spPr>
          <a:xfrm>
            <a:off x="2285986" y="3672184"/>
            <a:ext cx="2032014" cy="1962251"/>
          </a:xfrm>
          <a:prstGeom prst="rect">
            <a:avLst/>
          </a:prstGeom>
        </p:spPr>
      </p:pic>
      <p:pic>
        <p:nvPicPr>
          <p:cNvPr id="5" name="Picture 4">
            <a:extLst>
              <a:ext uri="{FF2B5EF4-FFF2-40B4-BE49-F238E27FC236}">
                <a16:creationId xmlns:a16="http://schemas.microsoft.com/office/drawing/2014/main" id="{00E52BA2-704E-C72F-0944-B782611FD3CA}"/>
              </a:ext>
            </a:extLst>
          </p:cNvPr>
          <p:cNvPicPr>
            <a:picLocks noChangeAspect="1"/>
          </p:cNvPicPr>
          <p:nvPr/>
        </p:nvPicPr>
        <p:blipFill>
          <a:blip r:embed="rId4"/>
          <a:srcRect/>
          <a:stretch/>
        </p:blipFill>
        <p:spPr>
          <a:xfrm>
            <a:off x="2285986" y="1924253"/>
            <a:ext cx="3718574" cy="1601267"/>
          </a:xfrm>
          <a:prstGeom prst="rect">
            <a:avLst/>
          </a:prstGeom>
        </p:spPr>
      </p:pic>
    </p:spTree>
    <p:extLst>
      <p:ext uri="{BB962C8B-B14F-4D97-AF65-F5344CB8AC3E}">
        <p14:creationId xmlns:p14="http://schemas.microsoft.com/office/powerpoint/2010/main" val="2464367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47D02-15EB-A92E-18C9-2CC0005C85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37DE6D-D945-8DF1-A03D-5B717D09702A}"/>
              </a:ext>
            </a:extLst>
          </p:cNvPr>
          <p:cNvSpPr>
            <a:spLocks noGrp="1"/>
          </p:cNvSpPr>
          <p:nvPr>
            <p:ph type="title"/>
          </p:nvPr>
        </p:nvSpPr>
        <p:spPr>
          <a:xfrm>
            <a:off x="2752199" y="226848"/>
            <a:ext cx="5964382" cy="643109"/>
          </a:xfrm>
          <a:solidFill>
            <a:schemeClr val="bg1">
              <a:lumMod val="50000"/>
              <a:lumOff val="50000"/>
            </a:schemeClr>
          </a:solidFill>
          <a:ln>
            <a:solidFill>
              <a:schemeClr val="bg1"/>
            </a:solidFill>
          </a:ln>
          <a:effectLst>
            <a:outerShdw blurRad="50800" dist="38100" dir="2700000" algn="tl" rotWithShape="0">
              <a:prstClr val="black">
                <a:alpha val="40000"/>
              </a:prstClr>
            </a:outerShdw>
          </a:effectLst>
        </p:spPr>
        <p:txBody>
          <a:bodyPr/>
          <a:lstStyle/>
          <a:p>
            <a:pPr algn="ctr"/>
            <a:r>
              <a:rPr lang="en-IN" sz="3200" b="1" u="sng" dirty="0"/>
              <a:t>Data Retrieval Queries</a:t>
            </a:r>
            <a:endParaRPr lang="ru-RU" sz="3200" b="1" u="sng" dirty="0"/>
          </a:p>
        </p:txBody>
      </p:sp>
      <p:sp>
        <p:nvSpPr>
          <p:cNvPr id="4" name="TextBox 3">
            <a:extLst>
              <a:ext uri="{FF2B5EF4-FFF2-40B4-BE49-F238E27FC236}">
                <a16:creationId xmlns:a16="http://schemas.microsoft.com/office/drawing/2014/main" id="{D80ED57B-5D90-52F3-3391-D5F70CEEA384}"/>
              </a:ext>
            </a:extLst>
          </p:cNvPr>
          <p:cNvSpPr txBox="1"/>
          <p:nvPr/>
        </p:nvSpPr>
        <p:spPr>
          <a:xfrm>
            <a:off x="2285986" y="908590"/>
            <a:ext cx="8778254" cy="1015663"/>
          </a:xfrm>
          <a:prstGeom prst="rect">
            <a:avLst/>
          </a:prstGeom>
          <a:noFill/>
          <a:ln>
            <a:noFill/>
          </a:ln>
          <a:effectLst>
            <a:outerShdw blurRad="50800" dist="38100" dir="5400000" algn="t" rotWithShape="0">
              <a:prstClr val="black">
                <a:alpha val="40000"/>
              </a:prstClr>
            </a:outerShdw>
          </a:effectLst>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 HAVING CLAUSE</a:t>
            </a:r>
          </a:p>
          <a:p>
            <a:r>
              <a:rPr lang="en-US" sz="2000" b="1" dirty="0">
                <a:latin typeface="Calibri" panose="020F0502020204030204" pitchFamily="34" charset="0"/>
                <a:ea typeface="Calibri" panose="020F0502020204030204" pitchFamily="34" charset="0"/>
                <a:cs typeface="Calibri" panose="020F0502020204030204" pitchFamily="34" charset="0"/>
              </a:rPr>
              <a:t>Write a query to get the total number of leave requests for each employee,  but only include employees with more than 3 leave requests. Use the HAVING clause.</a:t>
            </a:r>
          </a:p>
        </p:txBody>
      </p:sp>
      <p:sp>
        <p:nvSpPr>
          <p:cNvPr id="6" name="TextBox 5">
            <a:extLst>
              <a:ext uri="{FF2B5EF4-FFF2-40B4-BE49-F238E27FC236}">
                <a16:creationId xmlns:a16="http://schemas.microsoft.com/office/drawing/2014/main" id="{8B89374F-6A69-4C76-94DC-8BC55977DEA8}"/>
              </a:ext>
            </a:extLst>
          </p:cNvPr>
          <p:cNvSpPr txBox="1"/>
          <p:nvPr/>
        </p:nvSpPr>
        <p:spPr>
          <a:xfrm>
            <a:off x="416551" y="1223565"/>
            <a:ext cx="186943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Question 9-</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66852008-9C2B-1BB1-58A8-370FF0A55075}"/>
              </a:ext>
            </a:extLst>
          </p:cNvPr>
          <p:cNvSpPr txBox="1"/>
          <p:nvPr/>
        </p:nvSpPr>
        <p:spPr>
          <a:xfrm>
            <a:off x="426714" y="2067023"/>
            <a:ext cx="1219198"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Query -</a:t>
            </a:r>
            <a:endParaRPr lang="en-US" dirty="0"/>
          </a:p>
        </p:txBody>
      </p:sp>
      <p:sp>
        <p:nvSpPr>
          <p:cNvPr id="11" name="TextBox 10">
            <a:extLst>
              <a:ext uri="{FF2B5EF4-FFF2-40B4-BE49-F238E27FC236}">
                <a16:creationId xmlns:a16="http://schemas.microsoft.com/office/drawing/2014/main" id="{7F2120AF-D9AD-3914-6F20-D5B5EE40DD92}"/>
              </a:ext>
            </a:extLst>
          </p:cNvPr>
          <p:cNvSpPr txBox="1"/>
          <p:nvPr/>
        </p:nvSpPr>
        <p:spPr>
          <a:xfrm>
            <a:off x="345430" y="4024811"/>
            <a:ext cx="138176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Output -</a:t>
            </a:r>
            <a:endParaRPr lang="en-US" dirty="0"/>
          </a:p>
        </p:txBody>
      </p:sp>
      <p:sp>
        <p:nvSpPr>
          <p:cNvPr id="13" name="TextBox 12">
            <a:extLst>
              <a:ext uri="{FF2B5EF4-FFF2-40B4-BE49-F238E27FC236}">
                <a16:creationId xmlns:a16="http://schemas.microsoft.com/office/drawing/2014/main" id="{ACCF5109-EBBA-7B88-1059-EDA07ECB1C4D}"/>
              </a:ext>
            </a:extLst>
          </p:cNvPr>
          <p:cNvSpPr txBox="1"/>
          <p:nvPr/>
        </p:nvSpPr>
        <p:spPr>
          <a:xfrm>
            <a:off x="416551" y="5232119"/>
            <a:ext cx="1584961"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Analysis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7A40FFE5-B220-BA64-D77F-D047AB992F48}"/>
              </a:ext>
            </a:extLst>
          </p:cNvPr>
          <p:cNvSpPr txBox="1"/>
          <p:nvPr/>
        </p:nvSpPr>
        <p:spPr>
          <a:xfrm>
            <a:off x="504871" y="5742897"/>
            <a:ext cx="9983378" cy="1000274"/>
          </a:xfrm>
          <a:prstGeom prst="rect">
            <a:avLst/>
          </a:prstGeom>
          <a:solidFill>
            <a:schemeClr val="accent2">
              <a:lumMod val="40000"/>
              <a:lumOff val="60000"/>
            </a:schemeClr>
          </a:solidFill>
        </p:spPr>
        <p:txBody>
          <a:bodyPr wrap="square" rtlCol="0">
            <a:spAutoFit/>
          </a:bodyPr>
          <a:lstStyle/>
          <a:p>
            <a:pPr marL="342900" lvl="0" indent="-342900">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The query calculates the total number of leave requests for each employee. </a:t>
            </a:r>
          </a:p>
          <a:p>
            <a:pPr marL="342900" lvl="0" indent="-342900">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It uses the HAVING clause to include only employees with more than 3 leave requests.</a:t>
            </a:r>
          </a:p>
          <a:p>
            <a:pPr marL="342900" indent="-342900">
              <a:buFont typeface="Arial" panose="020B0604020202020204" pitchFamily="34" charset="0"/>
              <a:buChar char="•"/>
            </a:pPr>
            <a:endParaRPr lang="en-IN" sz="1900" b="1"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71B18275-327B-A675-1A66-3955FA1E05FF}"/>
              </a:ext>
            </a:extLst>
          </p:cNvPr>
          <p:cNvPicPr>
            <a:picLocks noChangeAspect="1"/>
          </p:cNvPicPr>
          <p:nvPr/>
        </p:nvPicPr>
        <p:blipFill>
          <a:blip r:embed="rId3"/>
          <a:srcRect/>
          <a:stretch/>
        </p:blipFill>
        <p:spPr>
          <a:xfrm>
            <a:off x="2330776" y="4024811"/>
            <a:ext cx="3403614" cy="1201421"/>
          </a:xfrm>
          <a:prstGeom prst="rect">
            <a:avLst/>
          </a:prstGeom>
        </p:spPr>
      </p:pic>
      <p:pic>
        <p:nvPicPr>
          <p:cNvPr id="5" name="Picture 4">
            <a:extLst>
              <a:ext uri="{FF2B5EF4-FFF2-40B4-BE49-F238E27FC236}">
                <a16:creationId xmlns:a16="http://schemas.microsoft.com/office/drawing/2014/main" id="{B7DB1546-35C4-D961-87DB-0301BB2EE67E}"/>
              </a:ext>
            </a:extLst>
          </p:cNvPr>
          <p:cNvPicPr>
            <a:picLocks noChangeAspect="1"/>
          </p:cNvPicPr>
          <p:nvPr/>
        </p:nvPicPr>
        <p:blipFill>
          <a:blip r:embed="rId4"/>
          <a:srcRect/>
          <a:stretch/>
        </p:blipFill>
        <p:spPr>
          <a:xfrm>
            <a:off x="2330776" y="2028722"/>
            <a:ext cx="3403614" cy="1709898"/>
          </a:xfrm>
          <a:prstGeom prst="rect">
            <a:avLst/>
          </a:prstGeom>
        </p:spPr>
      </p:pic>
    </p:spTree>
    <p:extLst>
      <p:ext uri="{BB962C8B-B14F-4D97-AF65-F5344CB8AC3E}">
        <p14:creationId xmlns:p14="http://schemas.microsoft.com/office/powerpoint/2010/main" val="2448491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97983-42FC-D9D0-F407-8CF7A64A0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9FC5D-2D88-3AE2-39B7-CB1D5ED00889}"/>
              </a:ext>
            </a:extLst>
          </p:cNvPr>
          <p:cNvSpPr>
            <a:spLocks noGrp="1"/>
          </p:cNvSpPr>
          <p:nvPr>
            <p:ph type="title"/>
          </p:nvPr>
        </p:nvSpPr>
        <p:spPr>
          <a:xfrm>
            <a:off x="2752199" y="226848"/>
            <a:ext cx="5964382" cy="643109"/>
          </a:xfrm>
          <a:solidFill>
            <a:schemeClr val="bg1">
              <a:lumMod val="50000"/>
              <a:lumOff val="50000"/>
            </a:schemeClr>
          </a:solidFill>
          <a:ln>
            <a:solidFill>
              <a:schemeClr val="bg1"/>
            </a:solidFill>
          </a:ln>
          <a:effectLst>
            <a:outerShdw blurRad="50800" dist="38100" dir="2700000" algn="tl" rotWithShape="0">
              <a:prstClr val="black">
                <a:alpha val="40000"/>
              </a:prstClr>
            </a:outerShdw>
          </a:effectLst>
        </p:spPr>
        <p:txBody>
          <a:bodyPr/>
          <a:lstStyle/>
          <a:p>
            <a:pPr algn="ctr"/>
            <a:r>
              <a:rPr lang="en-IN" sz="3200" b="1" u="sng" dirty="0"/>
              <a:t>Data Retrieval Queries</a:t>
            </a:r>
            <a:endParaRPr lang="ru-RU" sz="3200" b="1" u="sng" dirty="0"/>
          </a:p>
        </p:txBody>
      </p:sp>
      <p:sp>
        <p:nvSpPr>
          <p:cNvPr id="4" name="TextBox 3">
            <a:extLst>
              <a:ext uri="{FF2B5EF4-FFF2-40B4-BE49-F238E27FC236}">
                <a16:creationId xmlns:a16="http://schemas.microsoft.com/office/drawing/2014/main" id="{32A3F0A4-70AC-3DBA-E1C1-B2149FC8A477}"/>
              </a:ext>
            </a:extLst>
          </p:cNvPr>
          <p:cNvSpPr txBox="1"/>
          <p:nvPr/>
        </p:nvSpPr>
        <p:spPr>
          <a:xfrm>
            <a:off x="2285986" y="958268"/>
            <a:ext cx="7286580" cy="923330"/>
          </a:xfrm>
          <a:prstGeom prst="rect">
            <a:avLst/>
          </a:prstGeom>
          <a:noFill/>
          <a:ln>
            <a:noFill/>
          </a:ln>
          <a:effectLst>
            <a:outerShdw blurRad="50800" dist="38100" dir="5400000" algn="t" rotWithShape="0">
              <a:prstClr val="black">
                <a:alpha val="40000"/>
              </a:prstClr>
            </a:outerShdw>
          </a:effectLst>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 LIMIT</a:t>
            </a:r>
          </a:p>
          <a:p>
            <a:r>
              <a:rPr lang="en-US" b="1" dirty="0">
                <a:latin typeface="Calibri" panose="020F0502020204030204" pitchFamily="34" charset="0"/>
                <a:ea typeface="Calibri" panose="020F0502020204030204" pitchFamily="34" charset="0"/>
                <a:cs typeface="Calibri" panose="020F0502020204030204" pitchFamily="34" charset="0"/>
              </a:rPr>
              <a:t>Write a query to select the top 5 employees with the most number of 'Absent' statuses in the past year.</a:t>
            </a:r>
          </a:p>
        </p:txBody>
      </p:sp>
      <p:sp>
        <p:nvSpPr>
          <p:cNvPr id="6" name="TextBox 5">
            <a:extLst>
              <a:ext uri="{FF2B5EF4-FFF2-40B4-BE49-F238E27FC236}">
                <a16:creationId xmlns:a16="http://schemas.microsoft.com/office/drawing/2014/main" id="{37A1B5BF-E704-D156-4D1F-ED02D6A68608}"/>
              </a:ext>
            </a:extLst>
          </p:cNvPr>
          <p:cNvSpPr txBox="1"/>
          <p:nvPr/>
        </p:nvSpPr>
        <p:spPr>
          <a:xfrm>
            <a:off x="416551" y="1223565"/>
            <a:ext cx="186943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Question 10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D0D2177A-AF13-B91F-D500-0C4BDE2EC7C5}"/>
              </a:ext>
            </a:extLst>
          </p:cNvPr>
          <p:cNvSpPr txBox="1"/>
          <p:nvPr/>
        </p:nvSpPr>
        <p:spPr>
          <a:xfrm>
            <a:off x="426714" y="2067023"/>
            <a:ext cx="1219198"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Query -</a:t>
            </a:r>
            <a:endParaRPr lang="en-US" dirty="0"/>
          </a:p>
        </p:txBody>
      </p:sp>
      <p:sp>
        <p:nvSpPr>
          <p:cNvPr id="11" name="TextBox 10">
            <a:extLst>
              <a:ext uri="{FF2B5EF4-FFF2-40B4-BE49-F238E27FC236}">
                <a16:creationId xmlns:a16="http://schemas.microsoft.com/office/drawing/2014/main" id="{EC1CAFFB-F6E1-958D-1F6E-3CD2A74EC0B3}"/>
              </a:ext>
            </a:extLst>
          </p:cNvPr>
          <p:cNvSpPr txBox="1"/>
          <p:nvPr/>
        </p:nvSpPr>
        <p:spPr>
          <a:xfrm>
            <a:off x="426714" y="3610943"/>
            <a:ext cx="138176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Output -</a:t>
            </a:r>
            <a:endParaRPr lang="en-US" dirty="0"/>
          </a:p>
        </p:txBody>
      </p:sp>
      <p:sp>
        <p:nvSpPr>
          <p:cNvPr id="13" name="TextBox 12">
            <a:extLst>
              <a:ext uri="{FF2B5EF4-FFF2-40B4-BE49-F238E27FC236}">
                <a16:creationId xmlns:a16="http://schemas.microsoft.com/office/drawing/2014/main" id="{ECD8A027-8AE6-5009-39C9-D00021E60755}"/>
              </a:ext>
            </a:extLst>
          </p:cNvPr>
          <p:cNvSpPr txBox="1"/>
          <p:nvPr/>
        </p:nvSpPr>
        <p:spPr>
          <a:xfrm>
            <a:off x="325115" y="4841188"/>
            <a:ext cx="1584961"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Analysis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918F00C2-02CE-3511-625C-B6A620D29950}"/>
              </a:ext>
            </a:extLst>
          </p:cNvPr>
          <p:cNvSpPr txBox="1"/>
          <p:nvPr/>
        </p:nvSpPr>
        <p:spPr>
          <a:xfrm>
            <a:off x="426714" y="5258772"/>
            <a:ext cx="9983378" cy="1323439"/>
          </a:xfrm>
          <a:prstGeom prst="rect">
            <a:avLst/>
          </a:prstGeom>
          <a:solidFill>
            <a:schemeClr val="accent2">
              <a:lumMod val="40000"/>
              <a:lumOff val="60000"/>
            </a:schemeClr>
          </a:solidFill>
        </p:spPr>
        <p:txBody>
          <a:bodyPr wrap="square" rtlCol="0">
            <a:spAutoFit/>
          </a:bodyPr>
          <a:lstStyle/>
          <a:p>
            <a:pPr marL="342900" lvl="0" indent="-342900">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The query identifies employees with the highest number of Absent statuses during the past year. </a:t>
            </a:r>
          </a:p>
          <a:p>
            <a:pPr marL="342900" lvl="0" indent="-342900">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It uses ORDER BY and LIMIT 5 to display the top five results.</a:t>
            </a:r>
          </a:p>
          <a:p>
            <a:pPr marL="342900" indent="-342900">
              <a:buFont typeface="Arial" panose="020B0604020202020204" pitchFamily="34" charset="0"/>
              <a:buChar char="•"/>
            </a:pPr>
            <a:endParaRPr lang="en-IN" sz="2000" b="1"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C34844B8-F724-E884-B29F-2EF00117C177}"/>
              </a:ext>
            </a:extLst>
          </p:cNvPr>
          <p:cNvPicPr>
            <a:picLocks noChangeAspect="1"/>
          </p:cNvPicPr>
          <p:nvPr/>
        </p:nvPicPr>
        <p:blipFill>
          <a:blip r:embed="rId3"/>
          <a:srcRect/>
          <a:stretch/>
        </p:blipFill>
        <p:spPr>
          <a:xfrm>
            <a:off x="2285986" y="3610943"/>
            <a:ext cx="2103134" cy="1323439"/>
          </a:xfrm>
          <a:prstGeom prst="rect">
            <a:avLst/>
          </a:prstGeom>
        </p:spPr>
      </p:pic>
      <p:pic>
        <p:nvPicPr>
          <p:cNvPr id="5" name="Picture 4">
            <a:extLst>
              <a:ext uri="{FF2B5EF4-FFF2-40B4-BE49-F238E27FC236}">
                <a16:creationId xmlns:a16="http://schemas.microsoft.com/office/drawing/2014/main" id="{56565225-D838-D9D2-1632-61917D264C87}"/>
              </a:ext>
            </a:extLst>
          </p:cNvPr>
          <p:cNvPicPr>
            <a:picLocks noChangeAspect="1"/>
          </p:cNvPicPr>
          <p:nvPr/>
        </p:nvPicPr>
        <p:blipFill>
          <a:blip r:embed="rId4"/>
          <a:srcRect/>
          <a:stretch/>
        </p:blipFill>
        <p:spPr>
          <a:xfrm>
            <a:off x="2296148" y="1969908"/>
            <a:ext cx="3799851" cy="1459091"/>
          </a:xfrm>
          <a:prstGeom prst="rect">
            <a:avLst/>
          </a:prstGeom>
        </p:spPr>
      </p:pic>
    </p:spTree>
    <p:extLst>
      <p:ext uri="{BB962C8B-B14F-4D97-AF65-F5344CB8AC3E}">
        <p14:creationId xmlns:p14="http://schemas.microsoft.com/office/powerpoint/2010/main" val="3448773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A3931-D613-E252-8593-DB6B22B8C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233001-5872-B0DB-991E-E65D3AB9338B}"/>
              </a:ext>
            </a:extLst>
          </p:cNvPr>
          <p:cNvSpPr>
            <a:spLocks noGrp="1"/>
          </p:cNvSpPr>
          <p:nvPr>
            <p:ph type="title"/>
          </p:nvPr>
        </p:nvSpPr>
        <p:spPr>
          <a:xfrm>
            <a:off x="2752199" y="226848"/>
            <a:ext cx="5964382" cy="643109"/>
          </a:xfrm>
          <a:solidFill>
            <a:schemeClr val="bg1">
              <a:lumMod val="50000"/>
              <a:lumOff val="50000"/>
            </a:schemeClr>
          </a:solidFill>
          <a:ln>
            <a:solidFill>
              <a:schemeClr val="bg1"/>
            </a:solidFill>
          </a:ln>
          <a:effectLst>
            <a:outerShdw blurRad="50800" dist="38100" dir="2700000" algn="tl" rotWithShape="0">
              <a:prstClr val="black">
                <a:alpha val="40000"/>
              </a:prstClr>
            </a:outerShdw>
          </a:effectLst>
        </p:spPr>
        <p:txBody>
          <a:bodyPr/>
          <a:lstStyle/>
          <a:p>
            <a:pPr algn="ctr"/>
            <a:r>
              <a:rPr lang="en-IN" sz="3200" b="1" u="sng" dirty="0"/>
              <a:t>Data Retrieval Queries</a:t>
            </a:r>
            <a:endParaRPr lang="ru-RU" sz="3200" b="1" u="sng" dirty="0"/>
          </a:p>
        </p:txBody>
      </p:sp>
      <p:sp>
        <p:nvSpPr>
          <p:cNvPr id="4" name="TextBox 3">
            <a:extLst>
              <a:ext uri="{FF2B5EF4-FFF2-40B4-BE49-F238E27FC236}">
                <a16:creationId xmlns:a16="http://schemas.microsoft.com/office/drawing/2014/main" id="{B26807CD-B5CB-B532-05C9-734ABD136966}"/>
              </a:ext>
            </a:extLst>
          </p:cNvPr>
          <p:cNvSpPr txBox="1"/>
          <p:nvPr/>
        </p:nvSpPr>
        <p:spPr>
          <a:xfrm>
            <a:off x="2285986" y="958268"/>
            <a:ext cx="7286580" cy="923330"/>
          </a:xfrm>
          <a:prstGeom prst="rect">
            <a:avLst/>
          </a:prstGeom>
          <a:noFill/>
          <a:ln>
            <a:noFill/>
          </a:ln>
          <a:effectLst>
            <a:outerShdw blurRad="50800" dist="38100" dir="5400000" algn="t" rotWithShape="0">
              <a:prstClr val="black">
                <a:alpha val="40000"/>
              </a:prstClr>
            </a:outerShdw>
          </a:effectLst>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 INNER JOIN </a:t>
            </a:r>
          </a:p>
          <a:p>
            <a:r>
              <a:rPr lang="en-US" b="1" dirty="0">
                <a:latin typeface="Calibri" panose="020F0502020204030204" pitchFamily="34" charset="0"/>
                <a:ea typeface="Calibri" panose="020F0502020204030204" pitchFamily="34" charset="0"/>
                <a:cs typeface="Calibri" panose="020F0502020204030204" pitchFamily="34" charset="0"/>
              </a:rPr>
              <a:t>Write a query to join Employees with Departments to get a list of all employees with their department names.</a:t>
            </a:r>
          </a:p>
        </p:txBody>
      </p:sp>
      <p:sp>
        <p:nvSpPr>
          <p:cNvPr id="6" name="TextBox 5">
            <a:extLst>
              <a:ext uri="{FF2B5EF4-FFF2-40B4-BE49-F238E27FC236}">
                <a16:creationId xmlns:a16="http://schemas.microsoft.com/office/drawing/2014/main" id="{587D7BE4-F812-8EA5-6A4A-1F8F85C8E03D}"/>
              </a:ext>
            </a:extLst>
          </p:cNvPr>
          <p:cNvSpPr txBox="1"/>
          <p:nvPr/>
        </p:nvSpPr>
        <p:spPr>
          <a:xfrm>
            <a:off x="416551" y="1223565"/>
            <a:ext cx="186943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Question 11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A45953D-1882-10F9-99CD-0F766DADD02D}"/>
              </a:ext>
            </a:extLst>
          </p:cNvPr>
          <p:cNvSpPr txBox="1"/>
          <p:nvPr/>
        </p:nvSpPr>
        <p:spPr>
          <a:xfrm>
            <a:off x="426714" y="2067023"/>
            <a:ext cx="1219198"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Query -</a:t>
            </a:r>
            <a:endParaRPr lang="en-US" dirty="0"/>
          </a:p>
        </p:txBody>
      </p:sp>
      <p:sp>
        <p:nvSpPr>
          <p:cNvPr id="11" name="TextBox 10">
            <a:extLst>
              <a:ext uri="{FF2B5EF4-FFF2-40B4-BE49-F238E27FC236}">
                <a16:creationId xmlns:a16="http://schemas.microsoft.com/office/drawing/2014/main" id="{26F5EB41-3AC6-E22E-99EA-4D10613A696D}"/>
              </a:ext>
            </a:extLst>
          </p:cNvPr>
          <p:cNvSpPr txBox="1"/>
          <p:nvPr/>
        </p:nvSpPr>
        <p:spPr>
          <a:xfrm>
            <a:off x="426714" y="3610943"/>
            <a:ext cx="138176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Output -</a:t>
            </a:r>
            <a:endParaRPr lang="en-US" dirty="0"/>
          </a:p>
        </p:txBody>
      </p:sp>
      <p:sp>
        <p:nvSpPr>
          <p:cNvPr id="13" name="TextBox 12">
            <a:extLst>
              <a:ext uri="{FF2B5EF4-FFF2-40B4-BE49-F238E27FC236}">
                <a16:creationId xmlns:a16="http://schemas.microsoft.com/office/drawing/2014/main" id="{B8DC93B6-4616-8CB0-89CF-0B4E0925CA74}"/>
              </a:ext>
            </a:extLst>
          </p:cNvPr>
          <p:cNvSpPr txBox="1"/>
          <p:nvPr/>
        </p:nvSpPr>
        <p:spPr>
          <a:xfrm>
            <a:off x="426714" y="5123658"/>
            <a:ext cx="1584961"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Analysis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8C836636-D5CC-370F-DAA2-94BFC4CA2A50}"/>
              </a:ext>
            </a:extLst>
          </p:cNvPr>
          <p:cNvSpPr txBox="1"/>
          <p:nvPr/>
        </p:nvSpPr>
        <p:spPr>
          <a:xfrm>
            <a:off x="518154" y="5544494"/>
            <a:ext cx="9983378" cy="1200329"/>
          </a:xfrm>
          <a:prstGeom prst="rect">
            <a:avLst/>
          </a:prstGeom>
          <a:solidFill>
            <a:schemeClr val="accent2">
              <a:lumMod val="40000"/>
              <a:lumOff val="60000"/>
            </a:schemeClr>
          </a:solidFill>
        </p:spPr>
        <p:txBody>
          <a:bodyPr wrap="square" rtlCol="0">
            <a:spAutoFit/>
          </a:bodyPr>
          <a:lstStyle/>
          <a:p>
            <a:pPr marL="285750" lvl="0" indent="-285750">
              <a:buFont typeface="Arial" panose="020B0604020202020204" pitchFamily="34" charset="0"/>
              <a:buChar char="•"/>
            </a:pPr>
            <a:r>
              <a:rPr lang="en-IN" b="1" dirty="0">
                <a:solidFill>
                  <a:schemeClr val="bg1"/>
                </a:solidFill>
                <a:latin typeface="Times New Roman" panose="02020603050405020304" pitchFamily="18" charset="0"/>
                <a:cs typeface="Times New Roman" panose="02020603050405020304" pitchFamily="18" charset="0"/>
              </a:rPr>
              <a:t>The query joins Employees and Departments to display employee details with their department names. </a:t>
            </a:r>
          </a:p>
          <a:p>
            <a:pPr marL="285750" lvl="0" indent="-285750">
              <a:buFont typeface="Arial" panose="020B0604020202020204" pitchFamily="34" charset="0"/>
              <a:buChar char="•"/>
            </a:pPr>
            <a:r>
              <a:rPr lang="en-IN" b="1" dirty="0">
                <a:solidFill>
                  <a:schemeClr val="bg1"/>
                </a:solidFill>
                <a:latin typeface="Times New Roman" panose="02020603050405020304" pitchFamily="18" charset="0"/>
                <a:cs typeface="Times New Roman" panose="02020603050405020304" pitchFamily="18" charset="0"/>
              </a:rPr>
              <a:t>It helps view employee information along with their respective department and location.</a:t>
            </a:r>
          </a:p>
          <a:p>
            <a:pPr marL="342900" indent="-342900">
              <a:buFont typeface="Arial" panose="020B0604020202020204" pitchFamily="34" charset="0"/>
              <a:buChar char="•"/>
            </a:pP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0E42077D-F402-66CB-8045-A97CBB631058}"/>
              </a:ext>
            </a:extLst>
          </p:cNvPr>
          <p:cNvPicPr>
            <a:picLocks noChangeAspect="1"/>
          </p:cNvPicPr>
          <p:nvPr/>
        </p:nvPicPr>
        <p:blipFill>
          <a:blip r:embed="rId3"/>
          <a:srcRect/>
          <a:stretch/>
        </p:blipFill>
        <p:spPr>
          <a:xfrm>
            <a:off x="2285986" y="3204612"/>
            <a:ext cx="4094494" cy="2192627"/>
          </a:xfrm>
          <a:prstGeom prst="rect">
            <a:avLst/>
          </a:prstGeom>
        </p:spPr>
      </p:pic>
      <p:pic>
        <p:nvPicPr>
          <p:cNvPr id="5" name="Picture 4">
            <a:extLst>
              <a:ext uri="{FF2B5EF4-FFF2-40B4-BE49-F238E27FC236}">
                <a16:creationId xmlns:a16="http://schemas.microsoft.com/office/drawing/2014/main" id="{845C3BD4-3041-187B-9BA0-71FEC5F3FB38}"/>
              </a:ext>
            </a:extLst>
          </p:cNvPr>
          <p:cNvPicPr>
            <a:picLocks noChangeAspect="1"/>
          </p:cNvPicPr>
          <p:nvPr/>
        </p:nvPicPr>
        <p:blipFill>
          <a:blip r:embed="rId4"/>
          <a:srcRect/>
          <a:stretch/>
        </p:blipFill>
        <p:spPr>
          <a:xfrm>
            <a:off x="2285986" y="1863247"/>
            <a:ext cx="6766574" cy="1194109"/>
          </a:xfrm>
          <a:prstGeom prst="rect">
            <a:avLst/>
          </a:prstGeom>
        </p:spPr>
      </p:pic>
    </p:spTree>
    <p:extLst>
      <p:ext uri="{BB962C8B-B14F-4D97-AF65-F5344CB8AC3E}">
        <p14:creationId xmlns:p14="http://schemas.microsoft.com/office/powerpoint/2010/main" val="1656198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0CC6F-5BD5-40C0-423A-3F29E0C5C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25E875-D400-08E1-1C1C-2E8D051D3F4F}"/>
              </a:ext>
            </a:extLst>
          </p:cNvPr>
          <p:cNvSpPr>
            <a:spLocks noGrp="1"/>
          </p:cNvSpPr>
          <p:nvPr>
            <p:ph type="title"/>
          </p:nvPr>
        </p:nvSpPr>
        <p:spPr>
          <a:xfrm>
            <a:off x="2752199" y="226848"/>
            <a:ext cx="5964382" cy="643109"/>
          </a:xfrm>
          <a:solidFill>
            <a:schemeClr val="bg1">
              <a:lumMod val="50000"/>
              <a:lumOff val="50000"/>
            </a:schemeClr>
          </a:solidFill>
          <a:ln>
            <a:solidFill>
              <a:schemeClr val="bg1"/>
            </a:solidFill>
          </a:ln>
          <a:effectLst>
            <a:outerShdw blurRad="50800" dist="38100" dir="2700000" algn="tl" rotWithShape="0">
              <a:prstClr val="black">
                <a:alpha val="40000"/>
              </a:prstClr>
            </a:outerShdw>
          </a:effectLst>
        </p:spPr>
        <p:txBody>
          <a:bodyPr/>
          <a:lstStyle/>
          <a:p>
            <a:pPr algn="ctr"/>
            <a:r>
              <a:rPr lang="en-IN" sz="3200" b="1" u="sng" dirty="0"/>
              <a:t>Data Retrieval Queries</a:t>
            </a:r>
            <a:endParaRPr lang="ru-RU" sz="3200" b="1" u="sng" dirty="0"/>
          </a:p>
        </p:txBody>
      </p:sp>
      <p:sp>
        <p:nvSpPr>
          <p:cNvPr id="4" name="TextBox 3">
            <a:extLst>
              <a:ext uri="{FF2B5EF4-FFF2-40B4-BE49-F238E27FC236}">
                <a16:creationId xmlns:a16="http://schemas.microsoft.com/office/drawing/2014/main" id="{F5E3D756-816F-7CBD-1B51-D31CF5017AFA}"/>
              </a:ext>
            </a:extLst>
          </p:cNvPr>
          <p:cNvSpPr txBox="1"/>
          <p:nvPr/>
        </p:nvSpPr>
        <p:spPr>
          <a:xfrm>
            <a:off x="2285986" y="958268"/>
            <a:ext cx="7286580" cy="923330"/>
          </a:xfrm>
          <a:prstGeom prst="rect">
            <a:avLst/>
          </a:prstGeom>
          <a:noFill/>
          <a:ln>
            <a:noFill/>
          </a:ln>
          <a:effectLst>
            <a:outerShdw blurRad="50800" dist="38100" dir="5400000" algn="t" rotWithShape="0">
              <a:prstClr val="black">
                <a:alpha val="40000"/>
              </a:prstClr>
            </a:outerShdw>
          </a:effectLst>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 OUTER JOIN</a:t>
            </a:r>
          </a:p>
          <a:p>
            <a:r>
              <a:rPr lang="en-US" b="1" dirty="0">
                <a:latin typeface="Calibri" panose="020F0502020204030204" pitchFamily="34" charset="0"/>
                <a:ea typeface="Calibri" panose="020F0502020204030204" pitchFamily="34" charset="0"/>
                <a:cs typeface="Calibri" panose="020F0502020204030204" pitchFamily="34" charset="0"/>
              </a:rPr>
              <a:t>Write a query to get a list of all employees and any associated </a:t>
            </a:r>
            <a:r>
              <a:rPr lang="en-US" b="1" dirty="0" err="1">
                <a:latin typeface="Calibri" panose="020F0502020204030204" pitchFamily="34" charset="0"/>
                <a:ea typeface="Calibri" panose="020F0502020204030204" pitchFamily="34" charset="0"/>
                <a:cs typeface="Calibri" panose="020F0502020204030204" pitchFamily="34" charset="0"/>
              </a:rPr>
              <a:t>LeaveRequests</a:t>
            </a:r>
            <a:r>
              <a:rPr lang="en-US" b="1" dirty="0">
                <a:latin typeface="Calibri" panose="020F0502020204030204" pitchFamily="34" charset="0"/>
                <a:ea typeface="Calibri" panose="020F0502020204030204" pitchFamily="34" charset="0"/>
                <a:cs typeface="Calibri" panose="020F0502020204030204" pitchFamily="34" charset="0"/>
              </a:rPr>
              <a:t>. Include employees who might not have any leave requests.</a:t>
            </a:r>
          </a:p>
        </p:txBody>
      </p:sp>
      <p:sp>
        <p:nvSpPr>
          <p:cNvPr id="6" name="TextBox 5">
            <a:extLst>
              <a:ext uri="{FF2B5EF4-FFF2-40B4-BE49-F238E27FC236}">
                <a16:creationId xmlns:a16="http://schemas.microsoft.com/office/drawing/2014/main" id="{6B88FACE-7F34-E0AC-35B9-90F597E36639}"/>
              </a:ext>
            </a:extLst>
          </p:cNvPr>
          <p:cNvSpPr txBox="1"/>
          <p:nvPr/>
        </p:nvSpPr>
        <p:spPr>
          <a:xfrm>
            <a:off x="416551" y="1223565"/>
            <a:ext cx="186943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Question 12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D1C9FECC-F664-0C32-03E7-020DD4D49C1C}"/>
              </a:ext>
            </a:extLst>
          </p:cNvPr>
          <p:cNvSpPr txBox="1"/>
          <p:nvPr/>
        </p:nvSpPr>
        <p:spPr>
          <a:xfrm>
            <a:off x="426714" y="2067023"/>
            <a:ext cx="1219198"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Query -</a:t>
            </a:r>
            <a:endParaRPr lang="en-US" dirty="0"/>
          </a:p>
        </p:txBody>
      </p:sp>
      <p:sp>
        <p:nvSpPr>
          <p:cNvPr id="11" name="TextBox 10">
            <a:extLst>
              <a:ext uri="{FF2B5EF4-FFF2-40B4-BE49-F238E27FC236}">
                <a16:creationId xmlns:a16="http://schemas.microsoft.com/office/drawing/2014/main" id="{4383A00C-C682-108C-020E-C67E52F1A0E3}"/>
              </a:ext>
            </a:extLst>
          </p:cNvPr>
          <p:cNvSpPr txBox="1"/>
          <p:nvPr/>
        </p:nvSpPr>
        <p:spPr>
          <a:xfrm>
            <a:off x="426714" y="3954703"/>
            <a:ext cx="138176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Output -</a:t>
            </a:r>
            <a:endParaRPr lang="en-US" dirty="0"/>
          </a:p>
        </p:txBody>
      </p:sp>
      <p:sp>
        <p:nvSpPr>
          <p:cNvPr id="13" name="TextBox 12">
            <a:extLst>
              <a:ext uri="{FF2B5EF4-FFF2-40B4-BE49-F238E27FC236}">
                <a16:creationId xmlns:a16="http://schemas.microsoft.com/office/drawing/2014/main" id="{B2593B73-0CC9-9A0D-9E14-900B4487BFE4}"/>
              </a:ext>
            </a:extLst>
          </p:cNvPr>
          <p:cNvSpPr txBox="1"/>
          <p:nvPr/>
        </p:nvSpPr>
        <p:spPr>
          <a:xfrm>
            <a:off x="426714" y="5428433"/>
            <a:ext cx="1584961"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Analysis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C9BB91CF-E957-A1CA-F1BD-D59AD2669CB5}"/>
              </a:ext>
            </a:extLst>
          </p:cNvPr>
          <p:cNvSpPr txBox="1"/>
          <p:nvPr/>
        </p:nvSpPr>
        <p:spPr>
          <a:xfrm>
            <a:off x="549661" y="5856977"/>
            <a:ext cx="9983378" cy="830997"/>
          </a:xfrm>
          <a:prstGeom prst="rect">
            <a:avLst/>
          </a:prstGeom>
          <a:solidFill>
            <a:schemeClr val="accent2">
              <a:lumMod val="40000"/>
              <a:lumOff val="60000"/>
            </a:schemeClr>
          </a:solidFill>
        </p:spPr>
        <p:txBody>
          <a:bodyPr wrap="square" rtlCol="0">
            <a:spAutoFit/>
          </a:bodyPr>
          <a:lstStyle/>
          <a:p>
            <a:pPr marL="285750" lvl="0" indent="-285750">
              <a:buFont typeface="Arial" panose="020B0604020202020204" pitchFamily="34" charset="0"/>
              <a:buChar char="•"/>
            </a:pPr>
            <a:r>
              <a:rPr lang="en-IN" sz="1600" b="1" dirty="0">
                <a:solidFill>
                  <a:schemeClr val="bg1"/>
                </a:solidFill>
                <a:latin typeface="Times New Roman" panose="02020603050405020304" pitchFamily="18" charset="0"/>
                <a:cs typeface="Times New Roman" panose="02020603050405020304" pitchFamily="18" charset="0"/>
              </a:rPr>
              <a:t>The query retrieves all employees along with their associated leave request details using a LEFT JOIN. </a:t>
            </a:r>
          </a:p>
          <a:p>
            <a:pPr marL="285750" lvl="0" indent="-285750">
              <a:buFont typeface="Arial" panose="020B0604020202020204" pitchFamily="34" charset="0"/>
              <a:buChar char="•"/>
            </a:pPr>
            <a:r>
              <a:rPr lang="en-IN" sz="1600" b="1" dirty="0">
                <a:solidFill>
                  <a:schemeClr val="bg1"/>
                </a:solidFill>
                <a:latin typeface="Times New Roman" panose="02020603050405020304" pitchFamily="18" charset="0"/>
                <a:cs typeface="Times New Roman" panose="02020603050405020304" pitchFamily="18" charset="0"/>
              </a:rPr>
              <a:t>It also includes employees who do not have any leave requests. </a:t>
            </a:r>
          </a:p>
          <a:p>
            <a:pPr marL="342900" indent="-342900">
              <a:buFont typeface="Arial" panose="020B0604020202020204" pitchFamily="34" charset="0"/>
              <a:buChar char="•"/>
            </a:pPr>
            <a:endParaRPr lang="en-IN" sz="1600" b="1"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356D6FF4-0837-4FBB-B2A0-DBC9CF5915EB}"/>
              </a:ext>
            </a:extLst>
          </p:cNvPr>
          <p:cNvPicPr>
            <a:picLocks noChangeAspect="1"/>
          </p:cNvPicPr>
          <p:nvPr/>
        </p:nvPicPr>
        <p:blipFill>
          <a:blip r:embed="rId3"/>
          <a:srcRect/>
          <a:stretch/>
        </p:blipFill>
        <p:spPr>
          <a:xfrm>
            <a:off x="2285986" y="3954703"/>
            <a:ext cx="4094494" cy="1679732"/>
          </a:xfrm>
          <a:prstGeom prst="rect">
            <a:avLst/>
          </a:prstGeom>
        </p:spPr>
      </p:pic>
      <p:pic>
        <p:nvPicPr>
          <p:cNvPr id="5" name="Picture 4">
            <a:extLst>
              <a:ext uri="{FF2B5EF4-FFF2-40B4-BE49-F238E27FC236}">
                <a16:creationId xmlns:a16="http://schemas.microsoft.com/office/drawing/2014/main" id="{8571A484-875D-D58F-9A04-81A68FCA300C}"/>
              </a:ext>
            </a:extLst>
          </p:cNvPr>
          <p:cNvPicPr>
            <a:picLocks noChangeAspect="1"/>
          </p:cNvPicPr>
          <p:nvPr/>
        </p:nvPicPr>
        <p:blipFill>
          <a:blip r:embed="rId4"/>
          <a:srcRect/>
          <a:stretch/>
        </p:blipFill>
        <p:spPr>
          <a:xfrm>
            <a:off x="2285986" y="1881598"/>
            <a:ext cx="2804174" cy="1989361"/>
          </a:xfrm>
          <a:prstGeom prst="rect">
            <a:avLst/>
          </a:prstGeom>
        </p:spPr>
      </p:pic>
    </p:spTree>
    <p:extLst>
      <p:ext uri="{BB962C8B-B14F-4D97-AF65-F5344CB8AC3E}">
        <p14:creationId xmlns:p14="http://schemas.microsoft.com/office/powerpoint/2010/main" val="3066287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3509-0CCE-BDCC-2942-C41553B31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F39DA-2244-7D2B-B03D-B35781F68BAA}"/>
              </a:ext>
            </a:extLst>
          </p:cNvPr>
          <p:cNvSpPr>
            <a:spLocks noGrp="1"/>
          </p:cNvSpPr>
          <p:nvPr>
            <p:ph type="title"/>
          </p:nvPr>
        </p:nvSpPr>
        <p:spPr>
          <a:xfrm>
            <a:off x="2752199" y="114708"/>
            <a:ext cx="5964382" cy="643109"/>
          </a:xfrm>
          <a:solidFill>
            <a:schemeClr val="bg1">
              <a:lumMod val="50000"/>
              <a:lumOff val="50000"/>
            </a:schemeClr>
          </a:solidFill>
          <a:ln>
            <a:solidFill>
              <a:schemeClr val="bg1"/>
            </a:solidFill>
          </a:ln>
          <a:effectLst>
            <a:outerShdw blurRad="50800" dist="38100" dir="2700000" algn="tl" rotWithShape="0">
              <a:prstClr val="black">
                <a:alpha val="40000"/>
              </a:prstClr>
            </a:outerShdw>
          </a:effectLst>
        </p:spPr>
        <p:txBody>
          <a:bodyPr/>
          <a:lstStyle/>
          <a:p>
            <a:pPr algn="ctr"/>
            <a:r>
              <a:rPr lang="en-IN" sz="3200" b="1" u="sng" dirty="0"/>
              <a:t>Data Retrieval Queries</a:t>
            </a:r>
            <a:endParaRPr lang="ru-RU" sz="3200" b="1" u="sng" dirty="0"/>
          </a:p>
        </p:txBody>
      </p:sp>
      <p:sp>
        <p:nvSpPr>
          <p:cNvPr id="4" name="TextBox 3">
            <a:extLst>
              <a:ext uri="{FF2B5EF4-FFF2-40B4-BE49-F238E27FC236}">
                <a16:creationId xmlns:a16="http://schemas.microsoft.com/office/drawing/2014/main" id="{D9F2AC3B-AC9E-D9DD-B7B1-9771E5E96FBB}"/>
              </a:ext>
            </a:extLst>
          </p:cNvPr>
          <p:cNvSpPr txBox="1"/>
          <p:nvPr/>
        </p:nvSpPr>
        <p:spPr>
          <a:xfrm>
            <a:off x="2249494" y="721060"/>
            <a:ext cx="8247053" cy="830997"/>
          </a:xfrm>
          <a:prstGeom prst="rect">
            <a:avLst/>
          </a:prstGeom>
          <a:noFill/>
          <a:ln>
            <a:noFill/>
          </a:ln>
          <a:effectLst>
            <a:outerShdw blurRad="50800" dist="38100" dir="5400000" algn="t" rotWithShape="0">
              <a:prstClr val="black">
                <a:alpha val="40000"/>
              </a:prstClr>
            </a:outerShdw>
          </a:effectLst>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 JOIN WITH AGGREGATION</a:t>
            </a:r>
          </a:p>
          <a:p>
            <a:r>
              <a:rPr lang="en-US" sz="1600" b="1" dirty="0">
                <a:latin typeface="Calibri" panose="020F0502020204030204" pitchFamily="34" charset="0"/>
                <a:ea typeface="Calibri" panose="020F0502020204030204" pitchFamily="34" charset="0"/>
                <a:cs typeface="Calibri" panose="020F0502020204030204" pitchFamily="34" charset="0"/>
              </a:rPr>
              <a:t>Write a query to get the average number of hours worked per day for each employee. Use an INNER JOIN between </a:t>
            </a:r>
            <a:r>
              <a:rPr lang="en-US" sz="1600" b="1" dirty="0" err="1">
                <a:latin typeface="Calibri" panose="020F0502020204030204" pitchFamily="34" charset="0"/>
                <a:ea typeface="Calibri" panose="020F0502020204030204" pitchFamily="34" charset="0"/>
                <a:cs typeface="Calibri" panose="020F0502020204030204" pitchFamily="34" charset="0"/>
              </a:rPr>
              <a:t>WorkSchedules</a:t>
            </a:r>
            <a:r>
              <a:rPr lang="en-US" sz="1600" b="1" dirty="0">
                <a:latin typeface="Calibri" panose="020F0502020204030204" pitchFamily="34" charset="0"/>
                <a:ea typeface="Calibri" panose="020F0502020204030204" pitchFamily="34" charset="0"/>
                <a:cs typeface="Calibri" panose="020F0502020204030204" pitchFamily="34" charset="0"/>
              </a:rPr>
              <a:t> and Attendance, and group by </a:t>
            </a:r>
            <a:r>
              <a:rPr lang="en-US" sz="1600" b="1" dirty="0" err="1">
                <a:latin typeface="Calibri" panose="020F0502020204030204" pitchFamily="34" charset="0"/>
                <a:ea typeface="Calibri" panose="020F0502020204030204" pitchFamily="34" charset="0"/>
                <a:cs typeface="Calibri" panose="020F0502020204030204" pitchFamily="34" charset="0"/>
              </a:rPr>
              <a:t>EmployeeID</a:t>
            </a:r>
            <a:r>
              <a:rPr lang="en-US" sz="1600" b="1" dirty="0">
                <a:latin typeface="Calibri" panose="020F0502020204030204" pitchFamily="34" charset="0"/>
                <a:ea typeface="Calibri" panose="020F0502020204030204" pitchFamily="34" charset="0"/>
                <a:cs typeface="Calibri" panose="020F0502020204030204" pitchFamily="34" charset="0"/>
              </a:rPr>
              <a:t>.</a:t>
            </a:r>
          </a:p>
        </p:txBody>
      </p:sp>
      <p:sp>
        <p:nvSpPr>
          <p:cNvPr id="6" name="TextBox 5">
            <a:extLst>
              <a:ext uri="{FF2B5EF4-FFF2-40B4-BE49-F238E27FC236}">
                <a16:creationId xmlns:a16="http://schemas.microsoft.com/office/drawing/2014/main" id="{05CC6F77-2D3F-FBA5-3E8C-C3AA5F12C7C4}"/>
              </a:ext>
            </a:extLst>
          </p:cNvPr>
          <p:cNvSpPr txBox="1"/>
          <p:nvPr/>
        </p:nvSpPr>
        <p:spPr>
          <a:xfrm>
            <a:off x="416551" y="1223565"/>
            <a:ext cx="186943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Question 13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2C7B72D2-88FC-B4D3-19DF-A1795EBB93E8}"/>
              </a:ext>
            </a:extLst>
          </p:cNvPr>
          <p:cNvSpPr txBox="1"/>
          <p:nvPr/>
        </p:nvSpPr>
        <p:spPr>
          <a:xfrm>
            <a:off x="426714" y="2067023"/>
            <a:ext cx="1219198"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Query -</a:t>
            </a:r>
            <a:endParaRPr lang="en-US" dirty="0"/>
          </a:p>
        </p:txBody>
      </p:sp>
      <p:sp>
        <p:nvSpPr>
          <p:cNvPr id="11" name="TextBox 10">
            <a:extLst>
              <a:ext uri="{FF2B5EF4-FFF2-40B4-BE49-F238E27FC236}">
                <a16:creationId xmlns:a16="http://schemas.microsoft.com/office/drawing/2014/main" id="{0A92C83B-04F4-1066-D646-D67F58C2E281}"/>
              </a:ext>
            </a:extLst>
          </p:cNvPr>
          <p:cNvSpPr txBox="1"/>
          <p:nvPr/>
        </p:nvSpPr>
        <p:spPr>
          <a:xfrm>
            <a:off x="426714" y="3954703"/>
            <a:ext cx="138176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Output -</a:t>
            </a:r>
            <a:endParaRPr lang="en-US" dirty="0"/>
          </a:p>
        </p:txBody>
      </p:sp>
      <p:sp>
        <p:nvSpPr>
          <p:cNvPr id="13" name="TextBox 12">
            <a:extLst>
              <a:ext uri="{FF2B5EF4-FFF2-40B4-BE49-F238E27FC236}">
                <a16:creationId xmlns:a16="http://schemas.microsoft.com/office/drawing/2014/main" id="{258641E8-9C11-A4D5-297F-AA1A2B78858C}"/>
              </a:ext>
            </a:extLst>
          </p:cNvPr>
          <p:cNvSpPr txBox="1"/>
          <p:nvPr/>
        </p:nvSpPr>
        <p:spPr>
          <a:xfrm>
            <a:off x="444025" y="5634435"/>
            <a:ext cx="1584961"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Analysis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C90A65BB-3B00-DA26-C0F1-8651609FAA94}"/>
              </a:ext>
            </a:extLst>
          </p:cNvPr>
          <p:cNvSpPr txBox="1"/>
          <p:nvPr/>
        </p:nvSpPr>
        <p:spPr>
          <a:xfrm>
            <a:off x="509003" y="6096961"/>
            <a:ext cx="9983378" cy="646331"/>
          </a:xfrm>
          <a:prstGeom prst="rect">
            <a:avLst/>
          </a:prstGeom>
          <a:solidFill>
            <a:schemeClr val="accent2">
              <a:lumMod val="40000"/>
              <a:lumOff val="60000"/>
            </a:schemeClr>
          </a:solidFill>
        </p:spPr>
        <p:txBody>
          <a:bodyPr wrap="square" rtlCol="0">
            <a:spAutoFit/>
          </a:bodyPr>
          <a:lstStyle/>
          <a:p>
            <a:pPr marL="285750" lvl="0" indent="-285750">
              <a:buFont typeface="Arial" panose="020B0604020202020204" pitchFamily="34" charset="0"/>
              <a:buChar char="•"/>
            </a:pPr>
            <a:r>
              <a:rPr lang="en-IN" sz="1200" b="1" dirty="0">
                <a:solidFill>
                  <a:schemeClr val="bg1"/>
                </a:solidFill>
                <a:latin typeface="Times New Roman" panose="02020603050405020304" pitchFamily="18" charset="0"/>
                <a:cs typeface="Times New Roman" panose="02020603050405020304" pitchFamily="18" charset="0"/>
              </a:rPr>
              <a:t>The query calculates the average number of hours worked per day for each employee using Attendance and </a:t>
            </a:r>
            <a:r>
              <a:rPr lang="en-IN" sz="1200" b="1" dirty="0" err="1">
                <a:solidFill>
                  <a:schemeClr val="bg1"/>
                </a:solidFill>
                <a:latin typeface="Times New Roman" panose="02020603050405020304" pitchFamily="18" charset="0"/>
                <a:cs typeface="Times New Roman" panose="02020603050405020304" pitchFamily="18" charset="0"/>
              </a:rPr>
              <a:t>WorkSchedules</a:t>
            </a:r>
            <a:r>
              <a:rPr lang="en-IN" sz="1200" b="1" dirty="0">
                <a:solidFill>
                  <a:schemeClr val="bg1"/>
                </a:solidFill>
                <a:latin typeface="Times New Roman" panose="02020603050405020304" pitchFamily="18" charset="0"/>
                <a:cs typeface="Times New Roman" panose="02020603050405020304" pitchFamily="18" charset="0"/>
              </a:rPr>
              <a:t> data. </a:t>
            </a:r>
          </a:p>
          <a:p>
            <a:pPr marL="285750" lvl="0" indent="-285750">
              <a:buFont typeface="Arial" panose="020B0604020202020204" pitchFamily="34" charset="0"/>
              <a:buChar char="•"/>
            </a:pPr>
            <a:r>
              <a:rPr lang="en-IN" sz="1200" b="1" dirty="0">
                <a:solidFill>
                  <a:schemeClr val="bg1"/>
                </a:solidFill>
                <a:latin typeface="Times New Roman" panose="02020603050405020304" pitchFamily="18" charset="0"/>
                <a:cs typeface="Times New Roman" panose="02020603050405020304" pitchFamily="18" charset="0"/>
              </a:rPr>
              <a:t>It uses INNER JOIN and GROUP BY </a:t>
            </a:r>
            <a:r>
              <a:rPr lang="en-IN" sz="1200" b="1" dirty="0" err="1">
                <a:solidFill>
                  <a:schemeClr val="bg1"/>
                </a:solidFill>
                <a:latin typeface="Times New Roman" panose="02020603050405020304" pitchFamily="18" charset="0"/>
                <a:cs typeface="Times New Roman" panose="02020603050405020304" pitchFamily="18" charset="0"/>
              </a:rPr>
              <a:t>EmployeeID</a:t>
            </a:r>
            <a:r>
              <a:rPr lang="en-IN" sz="1200" b="1" dirty="0">
                <a:solidFill>
                  <a:schemeClr val="bg1"/>
                </a:solidFill>
                <a:latin typeface="Times New Roman" panose="02020603050405020304" pitchFamily="18" charset="0"/>
                <a:cs typeface="Times New Roman" panose="02020603050405020304" pitchFamily="18" charset="0"/>
              </a:rPr>
              <a:t> to calculate the average working hours employee-wise.</a:t>
            </a:r>
          </a:p>
          <a:p>
            <a:pPr marL="342900" indent="-342900">
              <a:buFont typeface="Arial" panose="020B0604020202020204" pitchFamily="34" charset="0"/>
              <a:buChar char="•"/>
            </a:pPr>
            <a:endParaRPr lang="en-IN" sz="1200" b="1"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6D719E26-09F0-0F20-C133-C832F83E80E1}"/>
              </a:ext>
            </a:extLst>
          </p:cNvPr>
          <p:cNvPicPr>
            <a:picLocks noChangeAspect="1"/>
          </p:cNvPicPr>
          <p:nvPr/>
        </p:nvPicPr>
        <p:blipFill>
          <a:blip r:embed="rId3"/>
          <a:srcRect/>
          <a:stretch/>
        </p:blipFill>
        <p:spPr>
          <a:xfrm>
            <a:off x="2249494" y="4059390"/>
            <a:ext cx="3470586" cy="1900386"/>
          </a:xfrm>
          <a:prstGeom prst="rect">
            <a:avLst/>
          </a:prstGeom>
        </p:spPr>
      </p:pic>
      <p:pic>
        <p:nvPicPr>
          <p:cNvPr id="5" name="Picture 4">
            <a:extLst>
              <a:ext uri="{FF2B5EF4-FFF2-40B4-BE49-F238E27FC236}">
                <a16:creationId xmlns:a16="http://schemas.microsoft.com/office/drawing/2014/main" id="{79392A96-3680-5AA6-52A5-AD0DB004396D}"/>
              </a:ext>
            </a:extLst>
          </p:cNvPr>
          <p:cNvPicPr>
            <a:picLocks noChangeAspect="1"/>
          </p:cNvPicPr>
          <p:nvPr/>
        </p:nvPicPr>
        <p:blipFill>
          <a:blip r:embed="rId4"/>
          <a:srcRect/>
          <a:stretch/>
        </p:blipFill>
        <p:spPr>
          <a:xfrm>
            <a:off x="2285984" y="1524000"/>
            <a:ext cx="4968256" cy="2430703"/>
          </a:xfrm>
          <a:prstGeom prst="rect">
            <a:avLst/>
          </a:prstGeom>
        </p:spPr>
      </p:pic>
    </p:spTree>
    <p:extLst>
      <p:ext uri="{BB962C8B-B14F-4D97-AF65-F5344CB8AC3E}">
        <p14:creationId xmlns:p14="http://schemas.microsoft.com/office/powerpoint/2010/main" val="453189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BD9C3-0138-4E7C-28E9-6A47B5B27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EB97C-5D4D-59D4-8865-7B24F2D8D93B}"/>
              </a:ext>
            </a:extLst>
          </p:cNvPr>
          <p:cNvSpPr>
            <a:spLocks noGrp="1"/>
          </p:cNvSpPr>
          <p:nvPr>
            <p:ph type="title"/>
          </p:nvPr>
        </p:nvSpPr>
        <p:spPr>
          <a:xfrm>
            <a:off x="2752199" y="114708"/>
            <a:ext cx="5964382" cy="643109"/>
          </a:xfrm>
          <a:solidFill>
            <a:schemeClr val="bg1">
              <a:lumMod val="50000"/>
              <a:lumOff val="50000"/>
            </a:schemeClr>
          </a:solidFill>
          <a:ln>
            <a:solidFill>
              <a:schemeClr val="bg1"/>
            </a:solidFill>
          </a:ln>
          <a:effectLst>
            <a:outerShdw blurRad="50800" dist="38100" dir="2700000" algn="tl" rotWithShape="0">
              <a:prstClr val="black">
                <a:alpha val="40000"/>
              </a:prstClr>
            </a:outerShdw>
          </a:effectLst>
        </p:spPr>
        <p:txBody>
          <a:bodyPr/>
          <a:lstStyle/>
          <a:p>
            <a:pPr algn="ctr"/>
            <a:r>
              <a:rPr lang="en-IN" sz="3200" b="1" u="sng" dirty="0"/>
              <a:t>Data Retrieval Queries</a:t>
            </a:r>
            <a:endParaRPr lang="ru-RU" sz="3200" b="1" u="sng" dirty="0"/>
          </a:p>
        </p:txBody>
      </p:sp>
      <p:sp>
        <p:nvSpPr>
          <p:cNvPr id="4" name="TextBox 3">
            <a:extLst>
              <a:ext uri="{FF2B5EF4-FFF2-40B4-BE49-F238E27FC236}">
                <a16:creationId xmlns:a16="http://schemas.microsoft.com/office/drawing/2014/main" id="{5FB793F7-C072-E92A-4A6B-2F0CCA71BA43}"/>
              </a:ext>
            </a:extLst>
          </p:cNvPr>
          <p:cNvSpPr txBox="1"/>
          <p:nvPr/>
        </p:nvSpPr>
        <p:spPr>
          <a:xfrm>
            <a:off x="2249494" y="721060"/>
            <a:ext cx="8247053" cy="830997"/>
          </a:xfrm>
          <a:prstGeom prst="rect">
            <a:avLst/>
          </a:prstGeom>
          <a:noFill/>
          <a:ln>
            <a:noFill/>
          </a:ln>
          <a:effectLst>
            <a:outerShdw blurRad="50800" dist="38100" dir="5400000" algn="t" rotWithShape="0">
              <a:prstClr val="black">
                <a:alpha val="40000"/>
              </a:prstClr>
            </a:outerShdw>
          </a:effectLst>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 SUBQUERY WITH JOIN</a:t>
            </a:r>
          </a:p>
          <a:p>
            <a:r>
              <a:rPr lang="en-US" sz="1600" b="1" dirty="0">
                <a:latin typeface="Calibri" panose="020F0502020204030204" pitchFamily="34" charset="0"/>
                <a:ea typeface="Calibri" panose="020F0502020204030204" pitchFamily="34" charset="0"/>
                <a:cs typeface="Calibri" panose="020F0502020204030204" pitchFamily="34" charset="0"/>
              </a:rPr>
              <a:t>Write a query to find all employees who have worked on days that are holidays. Use a subquery to filter dates that are in the Holidays table.</a:t>
            </a:r>
          </a:p>
        </p:txBody>
      </p:sp>
      <p:sp>
        <p:nvSpPr>
          <p:cNvPr id="6" name="TextBox 5">
            <a:extLst>
              <a:ext uri="{FF2B5EF4-FFF2-40B4-BE49-F238E27FC236}">
                <a16:creationId xmlns:a16="http://schemas.microsoft.com/office/drawing/2014/main" id="{2EB75F3F-73EA-16A6-3552-1A0E3FF4E9BA}"/>
              </a:ext>
            </a:extLst>
          </p:cNvPr>
          <p:cNvSpPr txBox="1"/>
          <p:nvPr/>
        </p:nvSpPr>
        <p:spPr>
          <a:xfrm>
            <a:off x="416551" y="1223565"/>
            <a:ext cx="186943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Question 14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70466ED-6828-2020-40F4-7ABF6FF28901}"/>
              </a:ext>
            </a:extLst>
          </p:cNvPr>
          <p:cNvSpPr txBox="1"/>
          <p:nvPr/>
        </p:nvSpPr>
        <p:spPr>
          <a:xfrm>
            <a:off x="426714" y="2067023"/>
            <a:ext cx="1219198"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Query -</a:t>
            </a:r>
            <a:endParaRPr lang="en-US" dirty="0"/>
          </a:p>
        </p:txBody>
      </p:sp>
      <p:sp>
        <p:nvSpPr>
          <p:cNvPr id="11" name="TextBox 10">
            <a:extLst>
              <a:ext uri="{FF2B5EF4-FFF2-40B4-BE49-F238E27FC236}">
                <a16:creationId xmlns:a16="http://schemas.microsoft.com/office/drawing/2014/main" id="{A50D70EE-7BCE-8BD9-AF49-C1D49C50542F}"/>
              </a:ext>
            </a:extLst>
          </p:cNvPr>
          <p:cNvSpPr txBox="1"/>
          <p:nvPr/>
        </p:nvSpPr>
        <p:spPr>
          <a:xfrm>
            <a:off x="426714" y="3954703"/>
            <a:ext cx="138176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Output -</a:t>
            </a:r>
            <a:endParaRPr lang="en-US" dirty="0"/>
          </a:p>
        </p:txBody>
      </p:sp>
      <p:sp>
        <p:nvSpPr>
          <p:cNvPr id="13" name="TextBox 12">
            <a:extLst>
              <a:ext uri="{FF2B5EF4-FFF2-40B4-BE49-F238E27FC236}">
                <a16:creationId xmlns:a16="http://schemas.microsoft.com/office/drawing/2014/main" id="{D0FF9D4C-3D79-5245-7EC8-8B53E1C36287}"/>
              </a:ext>
            </a:extLst>
          </p:cNvPr>
          <p:cNvSpPr txBox="1"/>
          <p:nvPr/>
        </p:nvSpPr>
        <p:spPr>
          <a:xfrm>
            <a:off x="444025" y="5634435"/>
            <a:ext cx="1584961"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Analysis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BE1A8579-D7C7-EC22-3979-5610C698A9FA}"/>
              </a:ext>
            </a:extLst>
          </p:cNvPr>
          <p:cNvSpPr txBox="1"/>
          <p:nvPr/>
        </p:nvSpPr>
        <p:spPr>
          <a:xfrm>
            <a:off x="509003" y="6096961"/>
            <a:ext cx="9983378" cy="738664"/>
          </a:xfrm>
          <a:prstGeom prst="rect">
            <a:avLst/>
          </a:prstGeom>
          <a:solidFill>
            <a:schemeClr val="accent2">
              <a:lumMod val="40000"/>
              <a:lumOff val="60000"/>
            </a:schemeClr>
          </a:solidFill>
        </p:spPr>
        <p:txBody>
          <a:bodyPr wrap="square" rtlCol="0">
            <a:spAutoFit/>
          </a:bodyPr>
          <a:lstStyle/>
          <a:p>
            <a:pPr marL="285750" lvl="0" indent="-285750">
              <a:buFont typeface="Arial" panose="020B0604020202020204" pitchFamily="34" charset="0"/>
              <a:buChar char="•"/>
            </a:pPr>
            <a:r>
              <a:rPr lang="en-IN" sz="1400" b="1" dirty="0">
                <a:solidFill>
                  <a:schemeClr val="bg1"/>
                </a:solidFill>
                <a:latin typeface="Times New Roman" panose="02020603050405020304" pitchFamily="18" charset="0"/>
                <a:cs typeface="Times New Roman" panose="02020603050405020304" pitchFamily="18" charset="0"/>
              </a:rPr>
              <a:t>The query identifies employees who have attendance records on holiday dates. </a:t>
            </a:r>
          </a:p>
          <a:p>
            <a:pPr marL="285750" lvl="0" indent="-285750">
              <a:buFont typeface="Arial" panose="020B0604020202020204" pitchFamily="34" charset="0"/>
              <a:buChar char="•"/>
            </a:pPr>
            <a:r>
              <a:rPr lang="en-IN" sz="1400" b="1" dirty="0">
                <a:solidFill>
                  <a:schemeClr val="bg1"/>
                </a:solidFill>
                <a:latin typeface="Times New Roman" panose="02020603050405020304" pitchFamily="18" charset="0"/>
                <a:cs typeface="Times New Roman" panose="02020603050405020304" pitchFamily="18" charset="0"/>
              </a:rPr>
              <a:t>It uses a subquery with the Holidays table to filter attendance dates that match holidays.</a:t>
            </a:r>
          </a:p>
          <a:p>
            <a:pPr marL="342900" indent="-342900">
              <a:buFont typeface="Arial" panose="020B0604020202020204" pitchFamily="34" charset="0"/>
              <a:buChar char="•"/>
            </a:pPr>
            <a:endParaRPr lang="en-IN" sz="1400" b="1"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C2419D6A-7871-A05F-B8D9-752266603FD0}"/>
              </a:ext>
            </a:extLst>
          </p:cNvPr>
          <p:cNvPicPr>
            <a:picLocks noChangeAspect="1"/>
          </p:cNvPicPr>
          <p:nvPr/>
        </p:nvPicPr>
        <p:blipFill>
          <a:blip r:embed="rId3"/>
          <a:srcRect/>
          <a:stretch/>
        </p:blipFill>
        <p:spPr>
          <a:xfrm>
            <a:off x="2285984" y="3799841"/>
            <a:ext cx="3810016" cy="2159936"/>
          </a:xfrm>
          <a:prstGeom prst="rect">
            <a:avLst/>
          </a:prstGeom>
        </p:spPr>
      </p:pic>
      <p:pic>
        <p:nvPicPr>
          <p:cNvPr id="5" name="Picture 4">
            <a:extLst>
              <a:ext uri="{FF2B5EF4-FFF2-40B4-BE49-F238E27FC236}">
                <a16:creationId xmlns:a16="http://schemas.microsoft.com/office/drawing/2014/main" id="{4AE367E6-BE44-E1A6-1C24-40822A137DE3}"/>
              </a:ext>
            </a:extLst>
          </p:cNvPr>
          <p:cNvPicPr>
            <a:picLocks noChangeAspect="1"/>
          </p:cNvPicPr>
          <p:nvPr/>
        </p:nvPicPr>
        <p:blipFill>
          <a:blip r:embed="rId4"/>
          <a:srcRect/>
          <a:stretch/>
        </p:blipFill>
        <p:spPr>
          <a:xfrm>
            <a:off x="2285984" y="1740394"/>
            <a:ext cx="4622816" cy="1954988"/>
          </a:xfrm>
          <a:prstGeom prst="rect">
            <a:avLst/>
          </a:prstGeom>
        </p:spPr>
      </p:pic>
    </p:spTree>
    <p:extLst>
      <p:ext uri="{BB962C8B-B14F-4D97-AF65-F5344CB8AC3E}">
        <p14:creationId xmlns:p14="http://schemas.microsoft.com/office/powerpoint/2010/main" val="3626459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1B780-2134-5FFB-6BD7-6F2E25081B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FF8BE-7FA7-E194-535A-4D93D89E9C99}"/>
              </a:ext>
            </a:extLst>
          </p:cNvPr>
          <p:cNvSpPr>
            <a:spLocks noGrp="1"/>
          </p:cNvSpPr>
          <p:nvPr>
            <p:ph type="title"/>
          </p:nvPr>
        </p:nvSpPr>
        <p:spPr>
          <a:xfrm>
            <a:off x="2752199" y="114708"/>
            <a:ext cx="5964382" cy="643109"/>
          </a:xfrm>
          <a:solidFill>
            <a:schemeClr val="bg1">
              <a:lumMod val="50000"/>
              <a:lumOff val="50000"/>
            </a:schemeClr>
          </a:solidFill>
          <a:ln>
            <a:solidFill>
              <a:schemeClr val="bg1"/>
            </a:solidFill>
          </a:ln>
          <a:effectLst>
            <a:outerShdw blurRad="50800" dist="38100" dir="2700000" algn="tl" rotWithShape="0">
              <a:prstClr val="black">
                <a:alpha val="40000"/>
              </a:prstClr>
            </a:outerShdw>
          </a:effectLst>
        </p:spPr>
        <p:txBody>
          <a:bodyPr/>
          <a:lstStyle/>
          <a:p>
            <a:pPr algn="ctr"/>
            <a:r>
              <a:rPr lang="en-IN" sz="3200" b="1" u="sng" dirty="0"/>
              <a:t>Data Retrieval Queries</a:t>
            </a:r>
            <a:endParaRPr lang="ru-RU" sz="3200" b="1" u="sng" dirty="0"/>
          </a:p>
        </p:txBody>
      </p:sp>
      <p:sp>
        <p:nvSpPr>
          <p:cNvPr id="4" name="TextBox 3">
            <a:extLst>
              <a:ext uri="{FF2B5EF4-FFF2-40B4-BE49-F238E27FC236}">
                <a16:creationId xmlns:a16="http://schemas.microsoft.com/office/drawing/2014/main" id="{7D7D6E16-D8B1-80CD-D9D5-E5275739098E}"/>
              </a:ext>
            </a:extLst>
          </p:cNvPr>
          <p:cNvSpPr txBox="1"/>
          <p:nvPr/>
        </p:nvSpPr>
        <p:spPr>
          <a:xfrm>
            <a:off x="2249494" y="721060"/>
            <a:ext cx="8247053" cy="1077218"/>
          </a:xfrm>
          <a:prstGeom prst="rect">
            <a:avLst/>
          </a:prstGeom>
          <a:noFill/>
          <a:ln>
            <a:noFill/>
          </a:ln>
          <a:effectLst>
            <a:outerShdw blurRad="50800" dist="38100" dir="5400000" algn="t" rotWithShape="0">
              <a:prstClr val="black">
                <a:alpha val="40000"/>
              </a:prstClr>
            </a:outerShdw>
          </a:effectLst>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 ADVANCED JOIN</a:t>
            </a:r>
          </a:p>
          <a:p>
            <a:r>
              <a:rPr lang="en-US" sz="1600" b="1" dirty="0">
                <a:latin typeface="Calibri" panose="020F0502020204030204" pitchFamily="34" charset="0"/>
                <a:ea typeface="Calibri" panose="020F0502020204030204" pitchFamily="34" charset="0"/>
                <a:cs typeface="Calibri" panose="020F0502020204030204" pitchFamily="34" charset="0"/>
              </a:rPr>
              <a:t>Write a query to list FirstName, LastName, </a:t>
            </a:r>
            <a:r>
              <a:rPr lang="en-US" sz="1600" b="1" dirty="0" err="1">
                <a:latin typeface="Calibri" panose="020F0502020204030204" pitchFamily="34" charset="0"/>
                <a:ea typeface="Calibri" panose="020F0502020204030204" pitchFamily="34" charset="0"/>
                <a:cs typeface="Calibri" panose="020F0502020204030204" pitchFamily="34" charset="0"/>
              </a:rPr>
              <a:t>DepartmentName</a:t>
            </a:r>
            <a:r>
              <a:rPr lang="en-US" sz="1600" b="1" dirty="0">
                <a:latin typeface="Calibri" panose="020F0502020204030204" pitchFamily="34" charset="0"/>
                <a:ea typeface="Calibri" panose="020F0502020204030204" pitchFamily="34" charset="0"/>
                <a:cs typeface="Calibri" panose="020F0502020204030204" pitchFamily="34" charset="0"/>
              </a:rPr>
              <a:t>, and </a:t>
            </a:r>
            <a:r>
              <a:rPr lang="en-US" sz="1600" b="1" dirty="0" err="1">
                <a:latin typeface="Calibri" panose="020F0502020204030204" pitchFamily="34" charset="0"/>
                <a:ea typeface="Calibri" panose="020F0502020204030204" pitchFamily="34" charset="0"/>
                <a:cs typeface="Calibri" panose="020F0502020204030204" pitchFamily="34" charset="0"/>
              </a:rPr>
              <a:t>HolidayName</a:t>
            </a:r>
            <a:r>
              <a:rPr lang="en-US" sz="1600" b="1" dirty="0">
                <a:latin typeface="Calibri" panose="020F0502020204030204" pitchFamily="34" charset="0"/>
                <a:ea typeface="Calibri" panose="020F0502020204030204" pitchFamily="34" charset="0"/>
                <a:cs typeface="Calibri" panose="020F0502020204030204" pitchFamily="34" charset="0"/>
              </a:rPr>
              <a:t> for all employees who have their </a:t>
            </a:r>
            <a:r>
              <a:rPr lang="en-US" sz="1600" b="1" dirty="0" err="1">
                <a:latin typeface="Calibri" panose="020F0502020204030204" pitchFamily="34" charset="0"/>
                <a:ea typeface="Calibri" panose="020F0502020204030204" pitchFamily="34" charset="0"/>
                <a:cs typeface="Calibri" panose="020F0502020204030204" pitchFamily="34" charset="0"/>
              </a:rPr>
              <a:t>CheckInTime</a:t>
            </a:r>
            <a:r>
              <a:rPr lang="en-US" sz="1600" b="1" dirty="0">
                <a:latin typeface="Calibri" panose="020F0502020204030204" pitchFamily="34" charset="0"/>
                <a:ea typeface="Calibri" panose="020F0502020204030204" pitchFamily="34" charset="0"/>
                <a:cs typeface="Calibri" panose="020F0502020204030204" pitchFamily="34" charset="0"/>
              </a:rPr>
              <a:t> on a holiday. -- Use INNER JOIN and LEFT JOIN as necessary to get all required details.</a:t>
            </a:r>
          </a:p>
        </p:txBody>
      </p:sp>
      <p:sp>
        <p:nvSpPr>
          <p:cNvPr id="6" name="TextBox 5">
            <a:extLst>
              <a:ext uri="{FF2B5EF4-FFF2-40B4-BE49-F238E27FC236}">
                <a16:creationId xmlns:a16="http://schemas.microsoft.com/office/drawing/2014/main" id="{985B6824-B1C6-4CBD-B701-4D09FF92E896}"/>
              </a:ext>
            </a:extLst>
          </p:cNvPr>
          <p:cNvSpPr txBox="1"/>
          <p:nvPr/>
        </p:nvSpPr>
        <p:spPr>
          <a:xfrm>
            <a:off x="416551" y="1223565"/>
            <a:ext cx="186943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Question 15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FA4CAD45-4B64-E995-2F23-9CFBD3D39569}"/>
              </a:ext>
            </a:extLst>
          </p:cNvPr>
          <p:cNvSpPr txBox="1"/>
          <p:nvPr/>
        </p:nvSpPr>
        <p:spPr>
          <a:xfrm>
            <a:off x="426714" y="2067023"/>
            <a:ext cx="1219198"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Query -</a:t>
            </a:r>
            <a:endParaRPr lang="en-US" dirty="0"/>
          </a:p>
        </p:txBody>
      </p:sp>
      <p:sp>
        <p:nvSpPr>
          <p:cNvPr id="11" name="TextBox 10">
            <a:extLst>
              <a:ext uri="{FF2B5EF4-FFF2-40B4-BE49-F238E27FC236}">
                <a16:creationId xmlns:a16="http://schemas.microsoft.com/office/drawing/2014/main" id="{3E15D15D-F5BC-4B94-2FA9-6FE4E5DD7D60}"/>
              </a:ext>
            </a:extLst>
          </p:cNvPr>
          <p:cNvSpPr txBox="1"/>
          <p:nvPr/>
        </p:nvSpPr>
        <p:spPr>
          <a:xfrm>
            <a:off x="426714" y="3954703"/>
            <a:ext cx="1381765"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defPPr>
              <a:defRPr lang="en-US"/>
            </a:defPPr>
            <a:lvl1pPr>
              <a:defRPr sz="2400" b="1" u="sng">
                <a:latin typeface="Calibri" panose="020F0502020204030204" pitchFamily="34" charset="0"/>
                <a:ea typeface="Calibri" panose="020F0502020204030204" pitchFamily="34" charset="0"/>
                <a:cs typeface="Calibri" panose="020F0502020204030204" pitchFamily="34" charset="0"/>
              </a:defRPr>
            </a:lvl1pPr>
          </a:lstStyle>
          <a:p>
            <a:r>
              <a:rPr lang="en-IN" dirty="0"/>
              <a:t>Output -</a:t>
            </a:r>
            <a:endParaRPr lang="en-US" dirty="0"/>
          </a:p>
        </p:txBody>
      </p:sp>
      <p:sp>
        <p:nvSpPr>
          <p:cNvPr id="13" name="TextBox 12">
            <a:extLst>
              <a:ext uri="{FF2B5EF4-FFF2-40B4-BE49-F238E27FC236}">
                <a16:creationId xmlns:a16="http://schemas.microsoft.com/office/drawing/2014/main" id="{DC992E24-4320-955B-1A70-234A1572E9AD}"/>
              </a:ext>
            </a:extLst>
          </p:cNvPr>
          <p:cNvSpPr txBox="1"/>
          <p:nvPr/>
        </p:nvSpPr>
        <p:spPr>
          <a:xfrm>
            <a:off x="444025" y="5634435"/>
            <a:ext cx="1584961" cy="510778"/>
          </a:xfrm>
          <a:prstGeom prst="round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u="sng" dirty="0">
                <a:latin typeface="Calibri" panose="020F0502020204030204" pitchFamily="34" charset="0"/>
                <a:ea typeface="Calibri" panose="020F0502020204030204" pitchFamily="34" charset="0"/>
                <a:cs typeface="Calibri" panose="020F0502020204030204" pitchFamily="34" charset="0"/>
              </a:rPr>
              <a:t>Analysis -</a:t>
            </a:r>
            <a:endParaRPr lang="en-US" sz="2400" b="1" u="sng"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C29298F4-3183-5EB9-5182-52504C88F5B6}"/>
              </a:ext>
            </a:extLst>
          </p:cNvPr>
          <p:cNvSpPr txBox="1"/>
          <p:nvPr/>
        </p:nvSpPr>
        <p:spPr>
          <a:xfrm>
            <a:off x="509003" y="6096961"/>
            <a:ext cx="9983378" cy="738664"/>
          </a:xfrm>
          <a:prstGeom prst="rect">
            <a:avLst/>
          </a:prstGeom>
          <a:solidFill>
            <a:schemeClr val="accent2">
              <a:lumMod val="40000"/>
              <a:lumOff val="60000"/>
            </a:schemeClr>
          </a:solidFill>
        </p:spPr>
        <p:txBody>
          <a:bodyPr wrap="square" rtlCol="0">
            <a:spAutoFit/>
          </a:bodyPr>
          <a:lstStyle/>
          <a:p>
            <a:pPr lvl="0"/>
            <a:r>
              <a:rPr lang="en-IN" sz="1400" b="1" dirty="0">
                <a:solidFill>
                  <a:schemeClr val="bg1"/>
                </a:solidFill>
                <a:latin typeface="Times New Roman" panose="02020603050405020304" pitchFamily="18" charset="0"/>
                <a:cs typeface="Times New Roman" panose="02020603050405020304" pitchFamily="18" charset="0"/>
              </a:rPr>
              <a:t>The query lists FirstName, LastName, </a:t>
            </a:r>
            <a:r>
              <a:rPr lang="en-IN" sz="1400" b="1" dirty="0" err="1">
                <a:solidFill>
                  <a:schemeClr val="bg1"/>
                </a:solidFill>
                <a:latin typeface="Times New Roman" panose="02020603050405020304" pitchFamily="18" charset="0"/>
                <a:cs typeface="Times New Roman" panose="02020603050405020304" pitchFamily="18" charset="0"/>
              </a:rPr>
              <a:t>DepartmentName</a:t>
            </a:r>
            <a:r>
              <a:rPr lang="en-IN" sz="1400" b="1" dirty="0">
                <a:solidFill>
                  <a:schemeClr val="bg1"/>
                </a:solidFill>
                <a:latin typeface="Times New Roman" panose="02020603050405020304" pitchFamily="18" charset="0"/>
                <a:cs typeface="Times New Roman" panose="02020603050405020304" pitchFamily="18" charset="0"/>
              </a:rPr>
              <a:t>, and </a:t>
            </a:r>
            <a:r>
              <a:rPr lang="en-IN" sz="1400" b="1" dirty="0" err="1">
                <a:solidFill>
                  <a:schemeClr val="bg1"/>
                </a:solidFill>
                <a:latin typeface="Times New Roman" panose="02020603050405020304" pitchFamily="18" charset="0"/>
                <a:cs typeface="Times New Roman" panose="02020603050405020304" pitchFamily="18" charset="0"/>
              </a:rPr>
              <a:t>HolidayName</a:t>
            </a:r>
            <a:r>
              <a:rPr lang="en-IN" sz="1400" b="1" dirty="0">
                <a:solidFill>
                  <a:schemeClr val="bg1"/>
                </a:solidFill>
                <a:latin typeface="Times New Roman" panose="02020603050405020304" pitchFamily="18" charset="0"/>
                <a:cs typeface="Times New Roman" panose="02020603050405020304" pitchFamily="18" charset="0"/>
              </a:rPr>
              <a:t> for employees who checked in on a holiday. </a:t>
            </a:r>
          </a:p>
          <a:p>
            <a:pPr lvl="0"/>
            <a:r>
              <a:rPr lang="en-IN" sz="1400" b="1" dirty="0">
                <a:solidFill>
                  <a:schemeClr val="bg1"/>
                </a:solidFill>
                <a:latin typeface="Times New Roman" panose="02020603050405020304" pitchFamily="18" charset="0"/>
                <a:cs typeface="Times New Roman" panose="02020603050405020304" pitchFamily="18" charset="0"/>
              </a:rPr>
              <a:t>It uses INNER JOIN and LEFT JOIN to combine employee, department, attendance, and holiday details.</a:t>
            </a:r>
          </a:p>
          <a:p>
            <a:pPr marL="342900" indent="-342900">
              <a:buFont typeface="Arial" panose="020B0604020202020204" pitchFamily="34" charset="0"/>
              <a:buChar char="•"/>
            </a:pPr>
            <a:endParaRPr lang="en-IN" sz="1400" b="1"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75F186CA-4629-6AE5-19E1-51B2A6A9DEC7}"/>
              </a:ext>
            </a:extLst>
          </p:cNvPr>
          <p:cNvPicPr>
            <a:picLocks noChangeAspect="1"/>
          </p:cNvPicPr>
          <p:nvPr/>
        </p:nvPicPr>
        <p:blipFill>
          <a:blip r:embed="rId3"/>
          <a:srcRect/>
          <a:stretch/>
        </p:blipFill>
        <p:spPr>
          <a:xfrm>
            <a:off x="2249494" y="3834136"/>
            <a:ext cx="3104826" cy="2198889"/>
          </a:xfrm>
          <a:prstGeom prst="rect">
            <a:avLst/>
          </a:prstGeom>
        </p:spPr>
      </p:pic>
      <p:pic>
        <p:nvPicPr>
          <p:cNvPr id="5" name="Picture 4">
            <a:extLst>
              <a:ext uri="{FF2B5EF4-FFF2-40B4-BE49-F238E27FC236}">
                <a16:creationId xmlns:a16="http://schemas.microsoft.com/office/drawing/2014/main" id="{015C3F56-5B0D-65A8-08C0-2055B51F7386}"/>
              </a:ext>
            </a:extLst>
          </p:cNvPr>
          <p:cNvPicPr>
            <a:picLocks noChangeAspect="1"/>
          </p:cNvPicPr>
          <p:nvPr/>
        </p:nvPicPr>
        <p:blipFill>
          <a:blip r:embed="rId4"/>
          <a:srcRect/>
          <a:stretch/>
        </p:blipFill>
        <p:spPr>
          <a:xfrm>
            <a:off x="2249494" y="1776261"/>
            <a:ext cx="3104826" cy="1954988"/>
          </a:xfrm>
          <a:prstGeom prst="rect">
            <a:avLst/>
          </a:prstGeom>
        </p:spPr>
      </p:pic>
    </p:spTree>
    <p:extLst>
      <p:ext uri="{BB962C8B-B14F-4D97-AF65-F5344CB8AC3E}">
        <p14:creationId xmlns:p14="http://schemas.microsoft.com/office/powerpoint/2010/main" val="2035936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BCD36-17B5-306E-A5D4-E68A5AAE0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2D3C0A-A5C0-1773-BC11-0BCDBEF3CE2D}"/>
              </a:ext>
            </a:extLst>
          </p:cNvPr>
          <p:cNvSpPr>
            <a:spLocks noGrp="1"/>
          </p:cNvSpPr>
          <p:nvPr>
            <p:ph type="title"/>
          </p:nvPr>
        </p:nvSpPr>
        <p:spPr>
          <a:xfrm>
            <a:off x="451505" y="667531"/>
            <a:ext cx="5175551" cy="744709"/>
          </a:xfrm>
        </p:spPr>
        <p:txBody>
          <a:bodyPr/>
          <a:lstStyle/>
          <a:p>
            <a:r>
              <a:rPr lang="en-IN" sz="3200" b="1" u="sng" dirty="0"/>
              <a:t>CONCLUSION</a:t>
            </a:r>
            <a:endParaRPr lang="ru-RU" sz="3200" b="1" u="sng" dirty="0"/>
          </a:p>
        </p:txBody>
      </p:sp>
      <p:sp>
        <p:nvSpPr>
          <p:cNvPr id="13" name="TextBox 12">
            <a:extLst>
              <a:ext uri="{FF2B5EF4-FFF2-40B4-BE49-F238E27FC236}">
                <a16:creationId xmlns:a16="http://schemas.microsoft.com/office/drawing/2014/main" id="{BADBC0FE-2BD8-B2AC-E32D-CDB94DFF6EB4}"/>
              </a:ext>
            </a:extLst>
          </p:cNvPr>
          <p:cNvSpPr txBox="1"/>
          <p:nvPr/>
        </p:nvSpPr>
        <p:spPr>
          <a:xfrm>
            <a:off x="538480" y="1412240"/>
            <a:ext cx="9865360" cy="1323439"/>
          </a:xfrm>
          <a:prstGeom prst="rect">
            <a:avLst/>
          </a:prstGeom>
          <a:noFill/>
        </p:spPr>
        <p:txBody>
          <a:bodyPr wrap="square" rtlCol="0">
            <a:spAutoFit/>
          </a:bodyPr>
          <a:lstStyle/>
          <a:p>
            <a:pPr>
              <a:lnSpc>
                <a:spcPct val="100000"/>
              </a:lnSpc>
            </a:pPr>
            <a:r>
              <a:rPr lang="en-IN" sz="2000" dirty="0"/>
              <a:t>The Attendance Management System successfully demonstrates how SQL can be used to efficiently manage, analyse, and generate meaningful insights from employees , department, attendance, holiday, leave requests and work schedule data.</a:t>
            </a:r>
            <a:endParaRPr lang="en-US" sz="2000" dirty="0"/>
          </a:p>
        </p:txBody>
      </p:sp>
    </p:spTree>
    <p:extLst>
      <p:ext uri="{BB962C8B-B14F-4D97-AF65-F5344CB8AC3E}">
        <p14:creationId xmlns:p14="http://schemas.microsoft.com/office/powerpoint/2010/main" val="2693002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6D08613F-90CC-1523-0D65-A1A792B94719}"/>
            </a:ext>
          </a:extLst>
        </p:cNvPr>
        <p:cNvGrpSpPr/>
        <p:nvPr/>
      </p:nvGrpSpPr>
      <p:grpSpPr>
        <a:xfrm>
          <a:off x="0" y="0"/>
          <a:ext cx="0" cy="0"/>
          <a:chOff x="0" y="0"/>
          <a:chExt cx="0" cy="0"/>
        </a:xfrm>
      </p:grpSpPr>
      <p:pic>
        <p:nvPicPr>
          <p:cNvPr id="15" name="Picture 14" descr="abstract design">
            <a:extLst>
              <a:ext uri="{FF2B5EF4-FFF2-40B4-BE49-F238E27FC236}">
                <a16:creationId xmlns:a16="http://schemas.microsoft.com/office/drawing/2014/main" id="{891B4F7A-45DD-9AE9-5C39-240237A8D6DC}"/>
              </a:ext>
            </a:extLst>
          </p:cNvPr>
          <p:cNvPicPr>
            <a:picLocks noChangeAspect="1"/>
          </p:cNvPicPr>
          <p:nvPr/>
        </p:nvPicPr>
        <p:blipFill rotWithShape="1">
          <a:blip r:embed="rId4">
            <a:duotone>
              <a:prstClr val="black"/>
              <a:schemeClr val="accent5">
                <a:tint val="45000"/>
                <a:satMod val="400000"/>
              </a:schemeClr>
            </a:duotone>
            <a:alphaModFix amt="25000"/>
          </a:blip>
          <a:srcRect t="18308" r="6818" b="2872"/>
          <a:stretch/>
        </p:blipFill>
        <p:spPr>
          <a:xfrm flipH="1">
            <a:off x="0" y="0"/>
            <a:ext cx="12191980" cy="6857990"/>
          </a:xfrm>
          <a:prstGeom prst="rect">
            <a:avLst/>
          </a:prstGeom>
        </p:spPr>
      </p:pic>
      <p:sp>
        <p:nvSpPr>
          <p:cNvPr id="12" name="Title 11">
            <a:extLst>
              <a:ext uri="{FF2B5EF4-FFF2-40B4-BE49-F238E27FC236}">
                <a16:creationId xmlns:a16="http://schemas.microsoft.com/office/drawing/2014/main" id="{B2DB4E71-15F0-5B72-50A7-5C773F6A8F9D}"/>
              </a:ext>
            </a:extLst>
          </p:cNvPr>
          <p:cNvSpPr>
            <a:spLocks noGrp="1"/>
          </p:cNvSpPr>
          <p:nvPr>
            <p:ph type="ctrTitle"/>
          </p:nvPr>
        </p:nvSpPr>
        <p:spPr>
          <a:xfrm>
            <a:off x="1012715" y="1965960"/>
            <a:ext cx="8825658" cy="3329581"/>
          </a:xfrm>
        </p:spPr>
        <p:txBody>
          <a:bodyPr>
            <a:normAutofit/>
          </a:bodyPr>
          <a:lstStyle/>
          <a:p>
            <a:r>
              <a:rPr lang="en-US" dirty="0"/>
              <a:t>Thank You!</a:t>
            </a:r>
            <a:endParaRPr lang="ru-RU" dirty="0"/>
          </a:p>
        </p:txBody>
      </p:sp>
      <p:sp>
        <p:nvSpPr>
          <p:cNvPr id="57" name="Rectangle 56">
            <a:extLst>
              <a:ext uri="{FF2B5EF4-FFF2-40B4-BE49-F238E27FC236}">
                <a16:creationId xmlns:a16="http://schemas.microsoft.com/office/drawing/2014/main" id="{6FCA89E4-D85A-2A3E-BC95-A01772DDB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33119337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TM78884036_DIGITAL ION DESIGN_SL_V1.pptx" id="{AD58A1CE-E9E9-4C2E-83A0-65FD4522F93A}" vid="{1E9553B9-AA04-4A15-9836-1E06682578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48C88F1-1664-415F-AFCE-F6CF45809817}">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CC30393A-FEC6-4A44-9E4A-6EA49F1F7D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16958A-754B-4396-9457-FD7A427A37D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Digital design</Template>
  <TotalTime>2205</TotalTime>
  <Words>1342</Words>
  <Application>Microsoft Office PowerPoint</Application>
  <PresentationFormat>Widescreen</PresentationFormat>
  <Paragraphs>167</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Century Gothic</vt:lpstr>
      <vt:lpstr>Times New Roman</vt:lpstr>
      <vt:lpstr>Wingdings 3</vt:lpstr>
      <vt:lpstr>Ion</vt:lpstr>
      <vt:lpstr>SQL DATABASE ANALYSIS</vt:lpstr>
      <vt:lpstr>INTRODUCTION</vt:lpstr>
      <vt:lpstr>PROBLEM STATEMENT</vt:lpstr>
      <vt:lpstr>PROJECT OBJECTIVES</vt:lpstr>
      <vt:lpstr>EER Diagram</vt:lpstr>
      <vt:lpstr>1.Create Tables</vt:lpstr>
      <vt:lpstr>1.CREATE TABLES</vt:lpstr>
      <vt:lpstr>2.INSERT RECORDS</vt:lpstr>
      <vt:lpstr>2.INSERT RECORDS</vt:lpstr>
      <vt:lpstr>Data Retrieval Queries</vt:lpstr>
      <vt:lpstr>Data Retrieval Queries</vt:lpstr>
      <vt:lpstr>Data Retrieval Queries</vt:lpstr>
      <vt:lpstr>Data Retrieval Queries</vt:lpstr>
      <vt:lpstr>Data Retrieval Queries</vt:lpstr>
      <vt:lpstr>Data Retrieval Queries</vt:lpstr>
      <vt:lpstr>Data Retrieval Queries</vt:lpstr>
      <vt:lpstr>Data Retrieval Queries</vt:lpstr>
      <vt:lpstr>Data Retrieval Queries</vt:lpstr>
      <vt:lpstr>Data Retrieval Queries</vt:lpstr>
      <vt:lpstr>Data Retrieval Queries</vt:lpstr>
      <vt:lpstr>Data Retrieval Queries</vt:lpstr>
      <vt:lpstr>Data Retrieval Queries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Karan Bari</dc:creator>
  <cp:lastModifiedBy>Raj Bari</cp:lastModifiedBy>
  <cp:revision>48</cp:revision>
  <dcterms:created xsi:type="dcterms:W3CDTF">2026-07-17T16:20:54Z</dcterms:created>
  <dcterms:modified xsi:type="dcterms:W3CDTF">2026-09-16T21:10:27Z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